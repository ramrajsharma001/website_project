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3"/>
  </p:sldMasterIdLst>
  <p:notesMasterIdLst>
    <p:notesMasterId r:id="rId12"/>
  </p:notesMasterIdLst>
  <p:handoutMasterIdLst>
    <p:handoutMasterId r:id="rId13"/>
  </p:handoutMasterIdLst>
  <p:sldIdLst>
    <p:sldId id="256" r:id="rId4"/>
    <p:sldId id="428" r:id="rId5"/>
    <p:sldId id="427" r:id="rId6"/>
    <p:sldId id="379" r:id="rId7"/>
    <p:sldId id="386" r:id="rId8"/>
    <p:sldId id="370" r:id="rId9"/>
    <p:sldId id="420" r:id="rId10"/>
    <p:sldId id="416" r:id="rId11"/>
  </p:sldIdLst>
  <p:sldSz cx="9144000" cy="6858000" type="screen4x3"/>
  <p:notesSz cx="6985000" cy="9283700"/>
  <p:defaultTextStyle>
    <a:defPPr>
      <a:defRPr lang="en-US"/>
    </a:defPPr>
    <a:lvl1pPr algn="l" rtl="0" fontAlgn="base">
      <a:spcBef>
        <a:spcPct val="0"/>
      </a:spcBef>
      <a:spcAft>
        <a:spcPct val="0"/>
      </a:spcAft>
      <a:defRPr sz="1400" b="1" kern="1200">
        <a:solidFill>
          <a:schemeClr val="tx1"/>
        </a:solidFill>
        <a:latin typeface="Arial" charset="0"/>
        <a:ea typeface="+mn-ea"/>
        <a:cs typeface="+mn-cs"/>
      </a:defRPr>
    </a:lvl1pPr>
    <a:lvl2pPr marL="457200" algn="l" rtl="0" fontAlgn="base">
      <a:spcBef>
        <a:spcPct val="0"/>
      </a:spcBef>
      <a:spcAft>
        <a:spcPct val="0"/>
      </a:spcAft>
      <a:defRPr sz="1400" b="1" kern="1200">
        <a:solidFill>
          <a:schemeClr val="tx1"/>
        </a:solidFill>
        <a:latin typeface="Arial" charset="0"/>
        <a:ea typeface="+mn-ea"/>
        <a:cs typeface="+mn-cs"/>
      </a:defRPr>
    </a:lvl2pPr>
    <a:lvl3pPr marL="914400" algn="l" rtl="0" fontAlgn="base">
      <a:spcBef>
        <a:spcPct val="0"/>
      </a:spcBef>
      <a:spcAft>
        <a:spcPct val="0"/>
      </a:spcAft>
      <a:defRPr sz="1400" b="1" kern="1200">
        <a:solidFill>
          <a:schemeClr val="tx1"/>
        </a:solidFill>
        <a:latin typeface="Arial" charset="0"/>
        <a:ea typeface="+mn-ea"/>
        <a:cs typeface="+mn-cs"/>
      </a:defRPr>
    </a:lvl3pPr>
    <a:lvl4pPr marL="1371600" algn="l" rtl="0" fontAlgn="base">
      <a:spcBef>
        <a:spcPct val="0"/>
      </a:spcBef>
      <a:spcAft>
        <a:spcPct val="0"/>
      </a:spcAft>
      <a:defRPr sz="1400" b="1" kern="1200">
        <a:solidFill>
          <a:schemeClr val="tx1"/>
        </a:solidFill>
        <a:latin typeface="Arial" charset="0"/>
        <a:ea typeface="+mn-ea"/>
        <a:cs typeface="+mn-cs"/>
      </a:defRPr>
    </a:lvl4pPr>
    <a:lvl5pPr marL="1828800" algn="l" rtl="0" fontAlgn="base">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544">
          <p15:clr>
            <a:srgbClr val="A4A3A4"/>
          </p15:clr>
        </p15:guide>
        <p15:guide id="2" orient="horz" pos="384">
          <p15:clr>
            <a:srgbClr val="A4A3A4"/>
          </p15:clr>
        </p15:guide>
        <p15:guide id="3" orient="horz" pos="981">
          <p15:clr>
            <a:srgbClr val="A4A3A4"/>
          </p15:clr>
        </p15:guide>
        <p15:guide id="4" orient="horz" pos="821">
          <p15:clr>
            <a:srgbClr val="A4A3A4"/>
          </p15:clr>
        </p15:guide>
        <p15:guide id="5" orient="horz" pos="1845">
          <p15:clr>
            <a:srgbClr val="A4A3A4"/>
          </p15:clr>
        </p15:guide>
        <p15:guide id="6" orient="horz" pos="3552">
          <p15:clr>
            <a:srgbClr val="A4A3A4"/>
          </p15:clr>
        </p15:guide>
        <p15:guide id="7" pos="2880">
          <p15:clr>
            <a:srgbClr val="A4A3A4"/>
          </p15:clr>
        </p15:guide>
        <p15:guide id="8" pos="203">
          <p15:clr>
            <a:srgbClr val="A4A3A4"/>
          </p15:clr>
        </p15:guide>
        <p15:guide id="9" pos="5472">
          <p15:clr>
            <a:srgbClr val="A4A3A4"/>
          </p15:clr>
        </p15:guide>
        <p15:guide id="10" pos="2688">
          <p15:clr>
            <a:srgbClr val="A4A3A4"/>
          </p15:clr>
        </p15:guide>
        <p15:guide id="11" pos="301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C3"/>
    <a:srgbClr val="00387A"/>
    <a:srgbClr val="DDDDDD"/>
    <a:srgbClr val="EAEAEA"/>
    <a:srgbClr val="00A8FF"/>
    <a:srgbClr val="808080"/>
    <a:srgbClr val="B7E4FF"/>
    <a:srgbClr val="9A8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345" autoAdjust="0"/>
    <p:restoredTop sz="98857" autoAdjust="0"/>
  </p:normalViewPr>
  <p:slideViewPr>
    <p:cSldViewPr>
      <p:cViewPr varScale="1">
        <p:scale>
          <a:sx n="92" d="100"/>
          <a:sy n="92" d="100"/>
        </p:scale>
        <p:origin x="1664" y="64"/>
      </p:cViewPr>
      <p:guideLst>
        <p:guide orient="horz" pos="2544"/>
        <p:guide orient="horz" pos="384"/>
        <p:guide orient="horz" pos="981"/>
        <p:guide orient="horz" pos="821"/>
        <p:guide orient="horz" pos="1845"/>
        <p:guide orient="horz" pos="3552"/>
        <p:guide pos="2880"/>
        <p:guide pos="203"/>
        <p:guide pos="5472"/>
        <p:guide pos="2688"/>
        <p:guide pos="30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0354" tIns="45177" rIns="90354" bIns="45177" numCol="1" anchor="t" anchorCtr="0" compatLnSpc="1">
            <a:prstTxWarp prst="textNoShape">
              <a:avLst/>
            </a:prstTxWarp>
          </a:bodyPr>
          <a:lstStyle>
            <a:lvl1pPr defTabSz="904875">
              <a:defRPr sz="1000" b="0" smtClean="0"/>
            </a:lvl1pPr>
          </a:lstStyle>
          <a:p>
            <a:pPr>
              <a:defRPr/>
            </a:pPr>
            <a:endParaRPr lang="en-US"/>
          </a:p>
        </p:txBody>
      </p:sp>
      <p:sp>
        <p:nvSpPr>
          <p:cNvPr id="196611" name="Rectangle 3"/>
          <p:cNvSpPr>
            <a:spLocks noGrp="1" noChangeArrowheads="1"/>
          </p:cNvSpPr>
          <p:nvPr>
            <p:ph type="dt" sz="quarter" idx="1"/>
          </p:nvPr>
        </p:nvSpPr>
        <p:spPr bwMode="auto">
          <a:xfrm>
            <a:off x="3956050" y="0"/>
            <a:ext cx="3027363" cy="463550"/>
          </a:xfrm>
          <a:prstGeom prst="rect">
            <a:avLst/>
          </a:prstGeom>
          <a:noFill/>
          <a:ln w="9525">
            <a:noFill/>
            <a:miter lim="800000"/>
            <a:headEnd/>
            <a:tailEnd/>
          </a:ln>
        </p:spPr>
        <p:txBody>
          <a:bodyPr vert="horz" wrap="square" lIns="90354" tIns="45177" rIns="90354" bIns="45177" numCol="1" anchor="t" anchorCtr="0" compatLnSpc="1">
            <a:prstTxWarp prst="textNoShape">
              <a:avLst/>
            </a:prstTxWarp>
          </a:bodyPr>
          <a:lstStyle>
            <a:lvl1pPr algn="r" defTabSz="904875">
              <a:defRPr sz="1000" b="0" smtClean="0"/>
            </a:lvl1pPr>
          </a:lstStyle>
          <a:p>
            <a:pPr>
              <a:defRPr/>
            </a:pPr>
            <a:endParaRPr lang="en-US"/>
          </a:p>
        </p:txBody>
      </p:sp>
      <p:sp>
        <p:nvSpPr>
          <p:cNvPr id="196612" name="Rectangle 4"/>
          <p:cNvSpPr>
            <a:spLocks noGrp="1" noChangeArrowheads="1"/>
          </p:cNvSpPr>
          <p:nvPr>
            <p:ph type="ftr" sz="quarter" idx="2"/>
          </p:nvPr>
        </p:nvSpPr>
        <p:spPr bwMode="auto">
          <a:xfrm>
            <a:off x="0" y="8818563"/>
            <a:ext cx="3027363" cy="463550"/>
          </a:xfrm>
          <a:prstGeom prst="rect">
            <a:avLst/>
          </a:prstGeom>
          <a:noFill/>
          <a:ln w="9525">
            <a:noFill/>
            <a:miter lim="800000"/>
            <a:headEnd/>
            <a:tailEnd/>
          </a:ln>
        </p:spPr>
        <p:txBody>
          <a:bodyPr vert="horz" wrap="square" lIns="90354" tIns="45177" rIns="90354" bIns="45177" numCol="1" anchor="b" anchorCtr="0" compatLnSpc="1">
            <a:prstTxWarp prst="textNoShape">
              <a:avLst/>
            </a:prstTxWarp>
          </a:bodyPr>
          <a:lstStyle>
            <a:lvl1pPr defTabSz="904875">
              <a:defRPr sz="1000" b="0" smtClean="0"/>
            </a:lvl1pPr>
          </a:lstStyle>
          <a:p>
            <a:pPr>
              <a:defRPr/>
            </a:pPr>
            <a:endParaRPr lang="en-US"/>
          </a:p>
        </p:txBody>
      </p:sp>
      <p:sp>
        <p:nvSpPr>
          <p:cNvPr id="196613" name="Rectangle 5"/>
          <p:cNvSpPr>
            <a:spLocks noGrp="1" noChangeArrowheads="1"/>
          </p:cNvSpPr>
          <p:nvPr>
            <p:ph type="sldNum" sz="quarter" idx="3"/>
          </p:nvPr>
        </p:nvSpPr>
        <p:spPr bwMode="auto">
          <a:xfrm>
            <a:off x="3956050" y="8818563"/>
            <a:ext cx="3027363" cy="463550"/>
          </a:xfrm>
          <a:prstGeom prst="rect">
            <a:avLst/>
          </a:prstGeom>
          <a:noFill/>
          <a:ln w="9525">
            <a:noFill/>
            <a:miter lim="800000"/>
            <a:headEnd/>
            <a:tailEnd/>
          </a:ln>
        </p:spPr>
        <p:txBody>
          <a:bodyPr vert="horz" wrap="square" lIns="90354" tIns="45177" rIns="90354" bIns="45177" numCol="1" anchor="b" anchorCtr="0" compatLnSpc="1">
            <a:prstTxWarp prst="textNoShape">
              <a:avLst/>
            </a:prstTxWarp>
          </a:bodyPr>
          <a:lstStyle>
            <a:lvl1pPr algn="r" defTabSz="904875">
              <a:defRPr sz="1000" b="0" smtClean="0"/>
            </a:lvl1pPr>
          </a:lstStyle>
          <a:p>
            <a:pPr>
              <a:defRPr/>
            </a:pPr>
            <a:fld id="{74BBA985-A8C6-4720-A5FA-CC1CE7A17456}" type="slidenum">
              <a:rPr lang="en-US"/>
              <a:pPr>
                <a:defRPr/>
              </a:pPr>
              <a:t>‹#›</a:t>
            </a:fld>
            <a:endParaRPr lang="en-US"/>
          </a:p>
        </p:txBody>
      </p:sp>
    </p:spTree>
    <p:extLst>
      <p:ext uri="{BB962C8B-B14F-4D97-AF65-F5344CB8AC3E}">
        <p14:creationId xmlns:p14="http://schemas.microsoft.com/office/powerpoint/2010/main" val="2813897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5083" tIns="47542" rIns="95083" bIns="47542" numCol="1" anchor="t" anchorCtr="0" compatLnSpc="1">
            <a:prstTxWarp prst="textNoShape">
              <a:avLst/>
            </a:prstTxWarp>
          </a:bodyPr>
          <a:lstStyle>
            <a:lvl1pPr defTabSz="950913">
              <a:defRPr sz="1300" b="0" smtClean="0"/>
            </a:lvl1pPr>
          </a:lstStyle>
          <a:p>
            <a:pPr>
              <a:defRPr/>
            </a:pPr>
            <a:endParaRPr lang="en-US"/>
          </a:p>
        </p:txBody>
      </p:sp>
      <p:sp>
        <p:nvSpPr>
          <p:cNvPr id="27651" name="Rectangle 3"/>
          <p:cNvSpPr>
            <a:spLocks noGrp="1" noChangeArrowheads="1"/>
          </p:cNvSpPr>
          <p:nvPr>
            <p:ph type="dt" idx="1"/>
          </p:nvPr>
        </p:nvSpPr>
        <p:spPr bwMode="auto">
          <a:xfrm>
            <a:off x="3956050" y="0"/>
            <a:ext cx="3027363" cy="463550"/>
          </a:xfrm>
          <a:prstGeom prst="rect">
            <a:avLst/>
          </a:prstGeom>
          <a:noFill/>
          <a:ln w="9525">
            <a:noFill/>
            <a:miter lim="800000"/>
            <a:headEnd/>
            <a:tailEnd/>
          </a:ln>
        </p:spPr>
        <p:txBody>
          <a:bodyPr vert="horz" wrap="square" lIns="95083" tIns="47542" rIns="95083" bIns="47542" numCol="1" anchor="t" anchorCtr="0" compatLnSpc="1">
            <a:prstTxWarp prst="textNoShape">
              <a:avLst/>
            </a:prstTxWarp>
          </a:bodyPr>
          <a:lstStyle>
            <a:lvl1pPr algn="r" defTabSz="950913">
              <a:defRPr sz="1300" b="0" smtClean="0"/>
            </a:lvl1pPr>
          </a:lstStyle>
          <a:p>
            <a:pPr>
              <a:defRPr/>
            </a:pPr>
            <a:endParaRPr lang="en-US"/>
          </a:p>
        </p:txBody>
      </p:sp>
      <p:sp>
        <p:nvSpPr>
          <p:cNvPr id="40964" name="Rectangle 4"/>
          <p:cNvSpPr>
            <a:spLocks noGrp="1" noRot="1" noChangeAspect="1" noChangeArrowheads="1" noTextEdit="1"/>
          </p:cNvSpPr>
          <p:nvPr>
            <p:ph type="sldImg" idx="2"/>
          </p:nvPr>
        </p:nvSpPr>
        <p:spPr bwMode="auto">
          <a:xfrm>
            <a:off x="1173163" y="698500"/>
            <a:ext cx="4640262" cy="34798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698500" y="4410075"/>
            <a:ext cx="5588000" cy="4175125"/>
          </a:xfrm>
          <a:prstGeom prst="rect">
            <a:avLst/>
          </a:prstGeom>
          <a:noFill/>
          <a:ln w="9525">
            <a:noFill/>
            <a:miter lim="800000"/>
            <a:headEnd/>
            <a:tailEnd/>
          </a:ln>
        </p:spPr>
        <p:txBody>
          <a:bodyPr vert="horz" wrap="square" lIns="95083" tIns="47542" rIns="95083" bIns="4754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0" y="8818563"/>
            <a:ext cx="3027363" cy="463550"/>
          </a:xfrm>
          <a:prstGeom prst="rect">
            <a:avLst/>
          </a:prstGeom>
          <a:noFill/>
          <a:ln w="9525">
            <a:noFill/>
            <a:miter lim="800000"/>
            <a:headEnd/>
            <a:tailEnd/>
          </a:ln>
        </p:spPr>
        <p:txBody>
          <a:bodyPr vert="horz" wrap="square" lIns="95083" tIns="47542" rIns="95083" bIns="47542" numCol="1" anchor="b" anchorCtr="0" compatLnSpc="1">
            <a:prstTxWarp prst="textNoShape">
              <a:avLst/>
            </a:prstTxWarp>
          </a:bodyPr>
          <a:lstStyle>
            <a:lvl1pPr defTabSz="950913">
              <a:defRPr sz="1300" b="0" smtClean="0"/>
            </a:lvl1pPr>
          </a:lstStyle>
          <a:p>
            <a:pPr>
              <a:defRPr/>
            </a:pPr>
            <a:endParaRPr lang="en-US"/>
          </a:p>
        </p:txBody>
      </p:sp>
      <p:sp>
        <p:nvSpPr>
          <p:cNvPr id="27655" name="Rectangle 7"/>
          <p:cNvSpPr>
            <a:spLocks noGrp="1" noChangeArrowheads="1"/>
          </p:cNvSpPr>
          <p:nvPr>
            <p:ph type="sldNum" sz="quarter" idx="5"/>
          </p:nvPr>
        </p:nvSpPr>
        <p:spPr bwMode="auto">
          <a:xfrm>
            <a:off x="3956050" y="8818563"/>
            <a:ext cx="3027363" cy="463550"/>
          </a:xfrm>
          <a:prstGeom prst="rect">
            <a:avLst/>
          </a:prstGeom>
          <a:noFill/>
          <a:ln w="9525">
            <a:noFill/>
            <a:miter lim="800000"/>
            <a:headEnd/>
            <a:tailEnd/>
          </a:ln>
        </p:spPr>
        <p:txBody>
          <a:bodyPr vert="horz" wrap="square" lIns="95083" tIns="47542" rIns="95083" bIns="47542" numCol="1" anchor="b" anchorCtr="0" compatLnSpc="1">
            <a:prstTxWarp prst="textNoShape">
              <a:avLst/>
            </a:prstTxWarp>
          </a:bodyPr>
          <a:lstStyle>
            <a:lvl1pPr algn="r" defTabSz="950913">
              <a:defRPr sz="1300" b="0" smtClean="0"/>
            </a:lvl1pPr>
          </a:lstStyle>
          <a:p>
            <a:pPr>
              <a:defRPr/>
            </a:pPr>
            <a:fld id="{CF41E16F-24ED-4A12-AE2F-E6A40B63940F}" type="slidenum">
              <a:rPr lang="en-US"/>
              <a:pPr>
                <a:defRPr/>
              </a:pPr>
              <a:t>‹#›</a:t>
            </a:fld>
            <a:endParaRPr lang="en-US"/>
          </a:p>
        </p:txBody>
      </p:sp>
    </p:spTree>
    <p:extLst>
      <p:ext uri="{BB962C8B-B14F-4D97-AF65-F5344CB8AC3E}">
        <p14:creationId xmlns:p14="http://schemas.microsoft.com/office/powerpoint/2010/main" val="38037859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endParaRPr lang="en-US">
              <a:latin typeface="Arial" charset="0"/>
            </a:endParaRPr>
          </a:p>
        </p:txBody>
      </p:sp>
      <p:sp>
        <p:nvSpPr>
          <p:cNvPr id="41988" name="Slide Number Placeholder 3"/>
          <p:cNvSpPr>
            <a:spLocks noGrp="1"/>
          </p:cNvSpPr>
          <p:nvPr>
            <p:ph type="sldNum" sz="quarter" idx="5"/>
          </p:nvPr>
        </p:nvSpPr>
        <p:spPr>
          <a:noFill/>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BE495D8-A4FA-4A75-B4D5-B73B1E06EF01}" type="slidenum">
              <a:rPr lang="en-US"/>
              <a:pPr/>
              <a:t>5</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endParaRPr 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9" descr="Bar_Letter_161"/>
          <p:cNvPicPr>
            <a:picLocks noChangeAspect="1" noChangeArrowheads="1"/>
          </p:cNvPicPr>
          <p:nvPr/>
        </p:nvPicPr>
        <p:blipFill>
          <a:blip r:embed="rId3" cstate="print"/>
          <a:srcRect/>
          <a:stretch>
            <a:fillRect/>
          </a:stretch>
        </p:blipFill>
        <p:spPr bwMode="auto">
          <a:xfrm>
            <a:off x="323850" y="3273425"/>
            <a:ext cx="8512175" cy="165100"/>
          </a:xfrm>
          <a:prstGeom prst="rect">
            <a:avLst/>
          </a:prstGeom>
          <a:noFill/>
          <a:ln w="9525">
            <a:noFill/>
            <a:miter lim="800000"/>
            <a:headEnd/>
            <a:tailEnd/>
          </a:ln>
        </p:spPr>
      </p:pic>
      <p:pic>
        <p:nvPicPr>
          <p:cNvPr id="5" name="Picture 30" descr="Citi"/>
          <p:cNvPicPr>
            <a:picLocks noChangeAspect="1" noChangeArrowheads="1"/>
          </p:cNvPicPr>
          <p:nvPr>
            <p:custDataLst>
              <p:tags r:id="rId1"/>
            </p:custDataLst>
          </p:nvPr>
        </p:nvPicPr>
        <p:blipFill>
          <a:blip r:embed="rId4" cstate="print"/>
          <a:srcRect/>
          <a:stretch>
            <a:fillRect/>
          </a:stretch>
        </p:blipFill>
        <p:spPr bwMode="auto">
          <a:xfrm>
            <a:off x="8266113" y="6281738"/>
            <a:ext cx="534987" cy="357187"/>
          </a:xfrm>
          <a:prstGeom prst="rect">
            <a:avLst/>
          </a:prstGeom>
          <a:noFill/>
          <a:ln w="6350" algn="ctr">
            <a:noFill/>
            <a:miter lim="800000"/>
            <a:headEnd/>
            <a:tailEnd/>
          </a:ln>
        </p:spPr>
      </p:pic>
      <p:sp>
        <p:nvSpPr>
          <p:cNvPr id="5122" name="Rectangle 2"/>
          <p:cNvSpPr>
            <a:spLocks noGrp="1" noChangeArrowheads="1"/>
          </p:cNvSpPr>
          <p:nvPr>
            <p:ph type="ctrTitle"/>
          </p:nvPr>
        </p:nvSpPr>
        <p:spPr>
          <a:xfrm>
            <a:off x="4356100" y="2838450"/>
            <a:ext cx="4465638" cy="365125"/>
          </a:xfrm>
          <a:solidFill>
            <a:srgbClr val="FFFFFF"/>
          </a:solidFill>
        </p:spPr>
        <p:txBody>
          <a:bodyPr>
            <a:spAutoFit/>
          </a:bodyPr>
          <a:lstStyle>
            <a:lvl1pPr algn="r">
              <a:spcBef>
                <a:spcPct val="75000"/>
              </a:spcBef>
              <a:buClr>
                <a:schemeClr val="tx2"/>
              </a:buClr>
              <a:buFont typeface="Wingdings 2" pitchFamily="18" charset="2"/>
              <a:buNone/>
              <a:defRPr>
                <a:solidFill>
                  <a:srgbClr val="DC241F"/>
                </a:solidFill>
              </a:defRPr>
            </a:lvl1pPr>
          </a:lstStyle>
          <a:p>
            <a:r>
              <a:rPr lang="en-US"/>
              <a:t>Click to edit Master title style</a:t>
            </a:r>
          </a:p>
        </p:txBody>
      </p:sp>
      <p:sp>
        <p:nvSpPr>
          <p:cNvPr id="5137" name="Rectangle 17"/>
          <p:cNvSpPr>
            <a:spLocks noGrp="1" noChangeArrowheads="1"/>
          </p:cNvSpPr>
          <p:nvPr>
            <p:ph type="subTitle" sz="quarter" idx="1"/>
          </p:nvPr>
        </p:nvSpPr>
        <p:spPr>
          <a:xfrm>
            <a:off x="4356100" y="3500438"/>
            <a:ext cx="4465638" cy="274637"/>
          </a:xfrm>
          <a:ln/>
        </p:spPr>
        <p:txBody>
          <a:bodyPr>
            <a:spAutoFit/>
          </a:bodyPr>
          <a:lstStyle>
            <a:lvl1pPr marL="0" indent="0" algn="r">
              <a:buFont typeface="Wingdings 2" pitchFamily="18" charset="2"/>
              <a:buNone/>
              <a:defRPr sz="1800">
                <a:solidFill>
                  <a:srgbClr val="DC241F"/>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2263" y="1557338"/>
            <a:ext cx="4173537" cy="4462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57338"/>
            <a:ext cx="4173538" cy="4462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7663" y="122238"/>
            <a:ext cx="2124075"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2263" y="122238"/>
            <a:ext cx="62230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22263" y="122238"/>
            <a:ext cx="8499475" cy="427037"/>
          </a:xfrm>
        </p:spPr>
        <p:txBody>
          <a:bodyPr/>
          <a:lstStyle/>
          <a:p>
            <a:r>
              <a:rPr lang="en-US"/>
              <a:t>Click to edit Master title style</a:t>
            </a:r>
          </a:p>
        </p:txBody>
      </p:sp>
      <p:sp>
        <p:nvSpPr>
          <p:cNvPr id="3" name="Content Placeholder 2"/>
          <p:cNvSpPr>
            <a:spLocks noGrp="1"/>
          </p:cNvSpPr>
          <p:nvPr>
            <p:ph sz="half" idx="1"/>
          </p:nvPr>
        </p:nvSpPr>
        <p:spPr>
          <a:xfrm>
            <a:off x="322263" y="1557338"/>
            <a:ext cx="4173537" cy="4462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557338"/>
            <a:ext cx="4173538" cy="2154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3975"/>
            <a:ext cx="4173538" cy="2155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322263" y="122238"/>
            <a:ext cx="8499475" cy="427037"/>
          </a:xfrm>
        </p:spPr>
        <p:txBody>
          <a:bodyPr/>
          <a:lstStyle/>
          <a:p>
            <a:r>
              <a:rPr lang="en-US"/>
              <a:t>Click to edit Master title style</a:t>
            </a:r>
          </a:p>
        </p:txBody>
      </p:sp>
      <p:sp>
        <p:nvSpPr>
          <p:cNvPr id="3" name="Chart Placeholder 2"/>
          <p:cNvSpPr>
            <a:spLocks noGrp="1"/>
          </p:cNvSpPr>
          <p:nvPr>
            <p:ph type="chart" idx="1"/>
          </p:nvPr>
        </p:nvSpPr>
        <p:spPr>
          <a:xfrm>
            <a:off x="322263" y="1557338"/>
            <a:ext cx="8499475" cy="4462462"/>
          </a:xfrm>
        </p:spPr>
        <p:txBody>
          <a:bodyPr/>
          <a:lstStyle/>
          <a:p>
            <a:pPr lvl="0"/>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idx="1"/>
          </p:nvPr>
        </p:nvSpPr>
        <p:spPr bwMode="auto">
          <a:xfrm>
            <a:off x="322263" y="1557338"/>
            <a:ext cx="8499475" cy="4462462"/>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99" name="Line 3"/>
          <p:cNvSpPr>
            <a:spLocks noChangeShapeType="1"/>
          </p:cNvSpPr>
          <p:nvPr/>
        </p:nvSpPr>
        <p:spPr bwMode="auto">
          <a:xfrm>
            <a:off x="322263" y="609600"/>
            <a:ext cx="8499475" cy="0"/>
          </a:xfrm>
          <a:prstGeom prst="line">
            <a:avLst/>
          </a:prstGeom>
          <a:noFill/>
          <a:ln w="12700">
            <a:solidFill>
              <a:schemeClr val="accent2"/>
            </a:solidFill>
            <a:round/>
            <a:headEnd/>
            <a:tailEnd/>
          </a:ln>
          <a:effectLst/>
        </p:spPr>
        <p:txBody>
          <a:bodyPr wrap="none" anchor="ctr"/>
          <a:lstStyle/>
          <a:p>
            <a:pPr algn="ctr">
              <a:defRPr/>
            </a:pPr>
            <a:endParaRPr lang="en-US">
              <a:latin typeface="Arial" pitchFamily="34" charset="0"/>
            </a:endParaRPr>
          </a:p>
        </p:txBody>
      </p:sp>
      <p:sp>
        <p:nvSpPr>
          <p:cNvPr id="2052" name="Rectangle 5"/>
          <p:cNvSpPr>
            <a:spLocks noGrp="1" noChangeArrowheads="1"/>
          </p:cNvSpPr>
          <p:nvPr>
            <p:ph type="title"/>
          </p:nvPr>
        </p:nvSpPr>
        <p:spPr bwMode="auto">
          <a:xfrm>
            <a:off x="322263" y="122238"/>
            <a:ext cx="8499475" cy="427037"/>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pic>
        <p:nvPicPr>
          <p:cNvPr id="2053" name="Picture 20" descr="Citi"/>
          <p:cNvPicPr>
            <a:picLocks noChangeAspect="1" noChangeArrowheads="1"/>
          </p:cNvPicPr>
          <p:nvPr>
            <p:custDataLst>
              <p:tags r:id="rId15"/>
            </p:custDataLst>
          </p:nvPr>
        </p:nvPicPr>
        <p:blipFill>
          <a:blip r:embed="rId16" cstate="print"/>
          <a:srcRect/>
          <a:stretch>
            <a:fillRect/>
          </a:stretch>
        </p:blipFill>
        <p:spPr bwMode="auto">
          <a:xfrm>
            <a:off x="8266113" y="6281738"/>
            <a:ext cx="534987" cy="357187"/>
          </a:xfrm>
          <a:prstGeom prst="rect">
            <a:avLst/>
          </a:prstGeom>
          <a:noFill/>
          <a:ln w="6350" algn="ctr">
            <a:noFill/>
            <a:miter lim="800000"/>
            <a:headEnd/>
            <a:tailEnd/>
          </a:ln>
        </p:spPr>
      </p:pic>
    </p:spTree>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 id="2147484115" r:id="rId13"/>
  </p:sldLayoutIdLst>
  <p:txStyles>
    <p:titleStyle>
      <a:lvl1pPr algn="l" rtl="0" eaLnBrk="0" fontAlgn="base" hangingPunct="0">
        <a:spcBef>
          <a:spcPct val="0"/>
        </a:spcBef>
        <a:spcAft>
          <a:spcPct val="0"/>
        </a:spcAft>
        <a:defRPr sz="2400">
          <a:solidFill>
            <a:schemeClr val="accent2"/>
          </a:solidFill>
          <a:latin typeface="+mj-lt"/>
          <a:ea typeface="+mj-ea"/>
          <a:cs typeface="+mj-cs"/>
        </a:defRPr>
      </a:lvl1pPr>
      <a:lvl2pPr algn="l" rtl="0" eaLnBrk="0" fontAlgn="base" hangingPunct="0">
        <a:spcBef>
          <a:spcPct val="0"/>
        </a:spcBef>
        <a:spcAft>
          <a:spcPct val="0"/>
        </a:spcAft>
        <a:defRPr sz="2400">
          <a:solidFill>
            <a:schemeClr val="accent2"/>
          </a:solidFill>
          <a:latin typeface="Arial" pitchFamily="34" charset="0"/>
        </a:defRPr>
      </a:lvl2pPr>
      <a:lvl3pPr algn="l" rtl="0" eaLnBrk="0" fontAlgn="base" hangingPunct="0">
        <a:spcBef>
          <a:spcPct val="0"/>
        </a:spcBef>
        <a:spcAft>
          <a:spcPct val="0"/>
        </a:spcAft>
        <a:defRPr sz="2400">
          <a:solidFill>
            <a:schemeClr val="accent2"/>
          </a:solidFill>
          <a:latin typeface="Arial" pitchFamily="34" charset="0"/>
        </a:defRPr>
      </a:lvl3pPr>
      <a:lvl4pPr algn="l" rtl="0" eaLnBrk="0" fontAlgn="base" hangingPunct="0">
        <a:spcBef>
          <a:spcPct val="0"/>
        </a:spcBef>
        <a:spcAft>
          <a:spcPct val="0"/>
        </a:spcAft>
        <a:defRPr sz="2400">
          <a:solidFill>
            <a:schemeClr val="accent2"/>
          </a:solidFill>
          <a:latin typeface="Arial" pitchFamily="34" charset="0"/>
        </a:defRPr>
      </a:lvl4pPr>
      <a:lvl5pPr algn="l" rtl="0" eaLnBrk="0" fontAlgn="base" hangingPunct="0">
        <a:spcBef>
          <a:spcPct val="0"/>
        </a:spcBef>
        <a:spcAft>
          <a:spcPct val="0"/>
        </a:spcAft>
        <a:defRPr sz="2400">
          <a:solidFill>
            <a:schemeClr val="accent2"/>
          </a:solidFill>
          <a:latin typeface="Arial" pitchFamily="34" charset="0"/>
        </a:defRPr>
      </a:lvl5pPr>
      <a:lvl6pPr marL="457200" algn="l" rtl="0" fontAlgn="base">
        <a:spcBef>
          <a:spcPct val="0"/>
        </a:spcBef>
        <a:spcAft>
          <a:spcPct val="0"/>
        </a:spcAft>
        <a:defRPr sz="2400">
          <a:solidFill>
            <a:schemeClr val="accent2"/>
          </a:solidFill>
          <a:latin typeface="Arial" pitchFamily="34" charset="0"/>
        </a:defRPr>
      </a:lvl6pPr>
      <a:lvl7pPr marL="914400" algn="l" rtl="0" fontAlgn="base">
        <a:spcBef>
          <a:spcPct val="0"/>
        </a:spcBef>
        <a:spcAft>
          <a:spcPct val="0"/>
        </a:spcAft>
        <a:defRPr sz="2400">
          <a:solidFill>
            <a:schemeClr val="accent2"/>
          </a:solidFill>
          <a:latin typeface="Arial" pitchFamily="34" charset="0"/>
        </a:defRPr>
      </a:lvl7pPr>
      <a:lvl8pPr marL="1371600" algn="l" rtl="0" fontAlgn="base">
        <a:spcBef>
          <a:spcPct val="0"/>
        </a:spcBef>
        <a:spcAft>
          <a:spcPct val="0"/>
        </a:spcAft>
        <a:defRPr sz="2400">
          <a:solidFill>
            <a:schemeClr val="accent2"/>
          </a:solidFill>
          <a:latin typeface="Arial" pitchFamily="34" charset="0"/>
        </a:defRPr>
      </a:lvl8pPr>
      <a:lvl9pPr marL="1828800" algn="l" rtl="0" fontAlgn="base">
        <a:spcBef>
          <a:spcPct val="0"/>
        </a:spcBef>
        <a:spcAft>
          <a:spcPct val="0"/>
        </a:spcAft>
        <a:defRPr sz="2400">
          <a:solidFill>
            <a:schemeClr val="accent2"/>
          </a:solidFill>
          <a:latin typeface="Arial" pitchFamily="34" charset="0"/>
        </a:defRPr>
      </a:lvl9pPr>
    </p:titleStyle>
    <p:bodyStyle>
      <a:lvl1pPr marL="228600" indent="-228600" algn="l" rtl="0" eaLnBrk="0" fontAlgn="base" hangingPunct="0">
        <a:spcBef>
          <a:spcPct val="75000"/>
        </a:spcBef>
        <a:spcAft>
          <a:spcPct val="0"/>
        </a:spcAft>
        <a:buClr>
          <a:srgbClr val="DC241F"/>
        </a:buClr>
        <a:buFont typeface="Wingdings 2" pitchFamily="18" charset="2"/>
        <a:buChar char=""/>
        <a:defRPr sz="1400">
          <a:solidFill>
            <a:schemeClr val="tx1"/>
          </a:solidFill>
          <a:latin typeface="+mn-lt"/>
          <a:ea typeface="+mn-ea"/>
          <a:cs typeface="+mn-cs"/>
        </a:defRPr>
      </a:lvl1pPr>
      <a:lvl2pPr marL="455613" indent="-225425" algn="l" rtl="0" eaLnBrk="0" fontAlgn="base" hangingPunct="0">
        <a:spcBef>
          <a:spcPct val="25000"/>
        </a:spcBef>
        <a:spcAft>
          <a:spcPct val="0"/>
        </a:spcAft>
        <a:buClr>
          <a:srgbClr val="DC241F"/>
        </a:buClr>
        <a:buFont typeface="Arial" charset="0"/>
        <a:buChar char="–"/>
        <a:defRPr sz="1400">
          <a:solidFill>
            <a:schemeClr val="tx1"/>
          </a:solidFill>
          <a:latin typeface="+mn-lt"/>
        </a:defRPr>
      </a:lvl2pPr>
      <a:lvl3pPr marL="684213" indent="-227013" algn="l" rtl="0" eaLnBrk="0" fontAlgn="base" hangingPunct="0">
        <a:spcBef>
          <a:spcPct val="25000"/>
        </a:spcBef>
        <a:spcAft>
          <a:spcPct val="0"/>
        </a:spcAft>
        <a:buClr>
          <a:srgbClr val="DC241F"/>
        </a:buClr>
        <a:buSzPct val="90000"/>
        <a:buFont typeface="Wingdings" pitchFamily="2" charset="2"/>
        <a:buChar char="§"/>
        <a:defRPr sz="1400">
          <a:solidFill>
            <a:schemeClr val="tx1"/>
          </a:solidFill>
          <a:latin typeface="+mn-lt"/>
        </a:defRPr>
      </a:lvl3pPr>
      <a:lvl4pPr marL="912813" indent="-227013" algn="l" rtl="0" eaLnBrk="0" fontAlgn="base" hangingPunct="0">
        <a:spcBef>
          <a:spcPct val="25000"/>
        </a:spcBef>
        <a:spcAft>
          <a:spcPct val="0"/>
        </a:spcAft>
        <a:buClr>
          <a:srgbClr val="DC241F"/>
        </a:buClr>
        <a:buFont typeface="Wingdings 2" pitchFamily="18" charset="2"/>
        <a:buChar char=""/>
        <a:defRPr sz="1400">
          <a:solidFill>
            <a:schemeClr val="tx1"/>
          </a:solidFill>
          <a:latin typeface="+mn-lt"/>
        </a:defRPr>
      </a:lvl4pPr>
      <a:lvl5pPr marL="1141413" indent="-227013" algn="l" rtl="0" eaLnBrk="0" fontAlgn="base" hangingPunct="0">
        <a:spcBef>
          <a:spcPct val="25000"/>
        </a:spcBef>
        <a:spcAft>
          <a:spcPct val="0"/>
        </a:spcAft>
        <a:buClr>
          <a:srgbClr val="DC241F"/>
        </a:buClr>
        <a:buFont typeface="Arial" charset="0"/>
        <a:buChar char="–"/>
        <a:defRPr sz="1400">
          <a:solidFill>
            <a:schemeClr val="tx1"/>
          </a:solidFill>
          <a:latin typeface="+mn-lt"/>
        </a:defRPr>
      </a:lvl5pPr>
      <a:lvl6pPr marL="1598613" indent="-227013" algn="l" rtl="0" fontAlgn="base">
        <a:spcBef>
          <a:spcPct val="25000"/>
        </a:spcBef>
        <a:spcAft>
          <a:spcPct val="0"/>
        </a:spcAft>
        <a:buClr>
          <a:srgbClr val="DC241F"/>
        </a:buClr>
        <a:buFont typeface="Arial" pitchFamily="34" charset="0"/>
        <a:buChar char="–"/>
        <a:defRPr sz="1400">
          <a:solidFill>
            <a:schemeClr val="tx1"/>
          </a:solidFill>
          <a:latin typeface="+mn-lt"/>
        </a:defRPr>
      </a:lvl6pPr>
      <a:lvl7pPr marL="2055813" indent="-227013" algn="l" rtl="0" fontAlgn="base">
        <a:spcBef>
          <a:spcPct val="25000"/>
        </a:spcBef>
        <a:spcAft>
          <a:spcPct val="0"/>
        </a:spcAft>
        <a:buClr>
          <a:srgbClr val="DC241F"/>
        </a:buClr>
        <a:buFont typeface="Arial" pitchFamily="34" charset="0"/>
        <a:buChar char="–"/>
        <a:defRPr sz="1400">
          <a:solidFill>
            <a:schemeClr val="tx1"/>
          </a:solidFill>
          <a:latin typeface="+mn-lt"/>
        </a:defRPr>
      </a:lvl7pPr>
      <a:lvl8pPr marL="2513013" indent="-227013" algn="l" rtl="0" fontAlgn="base">
        <a:spcBef>
          <a:spcPct val="25000"/>
        </a:spcBef>
        <a:spcAft>
          <a:spcPct val="0"/>
        </a:spcAft>
        <a:buClr>
          <a:srgbClr val="DC241F"/>
        </a:buClr>
        <a:buFont typeface="Arial" pitchFamily="34" charset="0"/>
        <a:buChar char="–"/>
        <a:defRPr sz="1400">
          <a:solidFill>
            <a:schemeClr val="tx1"/>
          </a:solidFill>
          <a:latin typeface="+mn-lt"/>
        </a:defRPr>
      </a:lvl8pPr>
      <a:lvl9pPr marL="2970213" indent="-227013" algn="l" rtl="0" fontAlgn="base">
        <a:spcBef>
          <a:spcPct val="25000"/>
        </a:spcBef>
        <a:spcAft>
          <a:spcPct val="0"/>
        </a:spcAft>
        <a:buClr>
          <a:srgbClr val="DC241F"/>
        </a:buClr>
        <a:buFont typeface="Arial" pitchFamily="34"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3.xml"/><Relationship Id="rId5" Type="http://schemas.openxmlformats.org/officeDocument/2006/relationships/image" Target="../media/image7.emf"/><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2514600" y="2795588"/>
            <a:ext cx="6324600" cy="369887"/>
          </a:xfrm>
        </p:spPr>
        <p:txBody>
          <a:bodyPr/>
          <a:lstStyle/>
          <a:p>
            <a:pPr eaLnBrk="1" hangingPunct="1"/>
            <a:r>
              <a:rPr lang="en-US" dirty="0">
                <a:solidFill>
                  <a:srgbClr val="00387A"/>
                </a:solidFill>
              </a:rPr>
              <a:t>Hostile M&amp;A and Takeover Defenses</a:t>
            </a:r>
          </a:p>
        </p:txBody>
      </p:sp>
      <p:sp>
        <p:nvSpPr>
          <p:cNvPr id="16387" name="Rectangle 3"/>
          <p:cNvSpPr>
            <a:spLocks noGrp="1" noChangeArrowheads="1"/>
          </p:cNvSpPr>
          <p:nvPr>
            <p:ph type="subTitle" sz="quarter" idx="1"/>
          </p:nvPr>
        </p:nvSpPr>
        <p:spPr>
          <a:xfrm>
            <a:off x="3352800" y="3500438"/>
            <a:ext cx="5468938" cy="554037"/>
          </a:xfrm>
        </p:spPr>
        <p:txBody>
          <a:bodyPr/>
          <a:lstStyle/>
          <a:p>
            <a:pPr eaLnBrk="1" hangingPunct="1"/>
            <a:r>
              <a:rPr lang="en-US">
                <a:solidFill>
                  <a:srgbClr val="00387A"/>
                </a:solidFill>
              </a:rPr>
              <a:t>Mergers, Acquisitions, and Corporate Restructuring </a:t>
            </a:r>
            <a:br>
              <a:rPr lang="en-US">
                <a:solidFill>
                  <a:srgbClr val="00387A"/>
                </a:solidFill>
              </a:rPr>
            </a:br>
            <a:r>
              <a:rPr lang="en-US">
                <a:solidFill>
                  <a:srgbClr val="00387A"/>
                </a:solidFill>
              </a:rPr>
              <a:t>Prof. Anil Shivdasani</a:t>
            </a:r>
          </a:p>
        </p:txBody>
      </p:sp>
      <p:sp>
        <p:nvSpPr>
          <p:cNvPr id="10" name="Rectangle 9"/>
          <p:cNvSpPr/>
          <p:nvPr/>
        </p:nvSpPr>
        <p:spPr bwMode="auto">
          <a:xfrm>
            <a:off x="304800" y="3276600"/>
            <a:ext cx="8534400" cy="152400"/>
          </a:xfrm>
          <a:prstGeom prst="rect">
            <a:avLst/>
          </a:prstGeom>
          <a:solidFill>
            <a:schemeClr val="bg1">
              <a:lumMod val="65000"/>
            </a:schemeClr>
          </a:solidFill>
          <a:ln w="6350" cap="flat" cmpd="sng" algn="ctr">
            <a:noFill/>
            <a:prstDash val="solid"/>
            <a:round/>
            <a:headEnd type="none" w="med" len="med"/>
            <a:tailEnd type="none" w="med" len="med"/>
          </a:ln>
          <a:effectLst/>
        </p:spPr>
        <p:txBody>
          <a:bodyPr lIns="45720" rIns="45720" anchor="ctr"/>
          <a:lstStyle/>
          <a:p>
            <a:pPr algn="ctr">
              <a:defRPr/>
            </a:pP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4E210-779D-65A2-FEC1-20F79852C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C3B17-67B8-2122-554A-71D9DDC23B3C}"/>
              </a:ext>
            </a:extLst>
          </p:cNvPr>
          <p:cNvSpPr>
            <a:spLocks noGrp="1"/>
          </p:cNvSpPr>
          <p:nvPr>
            <p:ph type="title"/>
          </p:nvPr>
        </p:nvSpPr>
        <p:spPr/>
        <p:txBody>
          <a:bodyPr/>
          <a:lstStyle/>
          <a:p>
            <a:r>
              <a:rPr lang="en-US" dirty="0"/>
              <a:t>Hostile Takeovers</a:t>
            </a:r>
          </a:p>
        </p:txBody>
      </p:sp>
      <p:sp>
        <p:nvSpPr>
          <p:cNvPr id="3" name="Content Placeholder 2">
            <a:extLst>
              <a:ext uri="{FF2B5EF4-FFF2-40B4-BE49-F238E27FC236}">
                <a16:creationId xmlns:a16="http://schemas.microsoft.com/office/drawing/2014/main" id="{44FC5A22-4038-79B0-2007-A7B733111016}"/>
              </a:ext>
            </a:extLst>
          </p:cNvPr>
          <p:cNvSpPr>
            <a:spLocks noGrp="1"/>
          </p:cNvSpPr>
          <p:nvPr>
            <p:ph idx="1"/>
          </p:nvPr>
        </p:nvSpPr>
        <p:spPr>
          <a:xfrm>
            <a:off x="315732" y="990600"/>
            <a:ext cx="8499475" cy="4462462"/>
          </a:xfrm>
        </p:spPr>
        <p:txBody>
          <a:bodyPr/>
          <a:lstStyle/>
          <a:p>
            <a:r>
              <a:rPr lang="en-US" sz="1800" dirty="0"/>
              <a:t>A hostile takeover occurs when an acquirer attempts to take over a company without the consent of its management</a:t>
            </a:r>
          </a:p>
          <a:p>
            <a:r>
              <a:rPr lang="en-US" sz="1800" dirty="0"/>
              <a:t>Generally, the buyer side-steps the management team to negotiate directly with the company’s shareholders. </a:t>
            </a:r>
          </a:p>
          <a:p>
            <a:r>
              <a:rPr lang="en-US" sz="1800" dirty="0"/>
              <a:t>Hostile takeovers are usually launched after initial discussions or proposal pursuant to an unsolicited offer have been rejected</a:t>
            </a:r>
          </a:p>
          <a:p>
            <a:r>
              <a:rPr lang="en-US" sz="1800" dirty="0"/>
              <a:t>Hostile takeover often tend to be high profile and sometimes protracted takeover battles</a:t>
            </a:r>
          </a:p>
          <a:p>
            <a:r>
              <a:rPr lang="en-US" sz="1800" dirty="0"/>
              <a:t>RECENT EXAMPLES</a:t>
            </a:r>
          </a:p>
        </p:txBody>
      </p:sp>
      <p:sp>
        <p:nvSpPr>
          <p:cNvPr id="4" name="Line 5">
            <a:extLst>
              <a:ext uri="{FF2B5EF4-FFF2-40B4-BE49-F238E27FC236}">
                <a16:creationId xmlns:a16="http://schemas.microsoft.com/office/drawing/2014/main" id="{CB5657F8-9243-D0FA-C126-D2D7151199C6}"/>
              </a:ext>
            </a:extLst>
          </p:cNvPr>
          <p:cNvSpPr>
            <a:spLocks noChangeShapeType="1"/>
          </p:cNvSpPr>
          <p:nvPr/>
        </p:nvSpPr>
        <p:spPr bwMode="gray">
          <a:xfrm flipV="1">
            <a:off x="296863" y="609600"/>
            <a:ext cx="8550275" cy="1588"/>
          </a:xfrm>
          <a:prstGeom prst="line">
            <a:avLst/>
          </a:prstGeom>
          <a:noFill/>
          <a:ln w="12700">
            <a:solidFill>
              <a:schemeClr val="accent2"/>
            </a:solidFill>
            <a:round/>
            <a:headEnd/>
            <a:tailEnd/>
          </a:ln>
        </p:spPr>
        <p:txBody>
          <a:bodyPr/>
          <a:lstStyle/>
          <a:p>
            <a:endParaRPr lang="en-US"/>
          </a:p>
        </p:txBody>
      </p:sp>
    </p:spTree>
    <p:extLst>
      <p:ext uri="{BB962C8B-B14F-4D97-AF65-F5344CB8AC3E}">
        <p14:creationId xmlns:p14="http://schemas.microsoft.com/office/powerpoint/2010/main" val="203227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FA91A-5ECC-1507-511A-1AD4E0D60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68DFE-07C9-7B34-986D-B1A5B50ECB20}"/>
              </a:ext>
            </a:extLst>
          </p:cNvPr>
          <p:cNvSpPr>
            <a:spLocks noGrp="1"/>
          </p:cNvSpPr>
          <p:nvPr>
            <p:ph type="title"/>
          </p:nvPr>
        </p:nvSpPr>
        <p:spPr/>
        <p:txBody>
          <a:bodyPr/>
          <a:lstStyle/>
          <a:p>
            <a:r>
              <a:rPr lang="en-US" dirty="0"/>
              <a:t>Poison Pills</a:t>
            </a:r>
          </a:p>
        </p:txBody>
      </p:sp>
      <p:sp>
        <p:nvSpPr>
          <p:cNvPr id="3" name="Content Placeholder 2">
            <a:extLst>
              <a:ext uri="{FF2B5EF4-FFF2-40B4-BE49-F238E27FC236}">
                <a16:creationId xmlns:a16="http://schemas.microsoft.com/office/drawing/2014/main" id="{4000B530-7037-2914-AF7E-22785D686020}"/>
              </a:ext>
            </a:extLst>
          </p:cNvPr>
          <p:cNvSpPr>
            <a:spLocks noGrp="1"/>
          </p:cNvSpPr>
          <p:nvPr>
            <p:ph idx="1"/>
          </p:nvPr>
        </p:nvSpPr>
        <p:spPr>
          <a:xfrm>
            <a:off x="315732" y="990600"/>
            <a:ext cx="8499475" cy="4462462"/>
          </a:xfrm>
        </p:spPr>
        <p:txBody>
          <a:bodyPr/>
          <a:lstStyle/>
          <a:p>
            <a:r>
              <a:rPr lang="en-US" sz="1800" dirty="0"/>
              <a:t>A poison pill, also known as a shareholder rights plan, is designed to make a takeover prohibitively expensive to a potential acquirer. </a:t>
            </a:r>
          </a:p>
          <a:p>
            <a:r>
              <a:rPr lang="en-US" sz="1800" dirty="0"/>
              <a:t>Most common form gives existing shareholders (other than the acquirer) the right to buy additional shares at a significant discount if any single investor exceeds the “trigger” threshold—often 10% to 15%. </a:t>
            </a:r>
          </a:p>
          <a:p>
            <a:r>
              <a:rPr lang="en-US" sz="1800" dirty="0"/>
              <a:t>This dilutes the hostile party’s stake, making it very expensive for them to acquire a controlling interest.</a:t>
            </a:r>
          </a:p>
          <a:p>
            <a:endParaRPr lang="en-US" sz="1800" dirty="0"/>
          </a:p>
          <a:p>
            <a:r>
              <a:rPr lang="en-US" sz="1800" dirty="0"/>
              <a:t>In 2022, X adopted a poison pill after Elon Musk disclosed a 9.2% stake in the company and made an unsolicited bid to buy the company outright. While this did delay the takeover and may have led to more favorable conditions, Musk was ultimately successful with the takeover.</a:t>
            </a:r>
          </a:p>
          <a:p>
            <a:endParaRPr lang="en-US" sz="1800" dirty="0"/>
          </a:p>
          <a:p>
            <a:r>
              <a:rPr lang="en-US" sz="1800" dirty="0"/>
              <a:t>Netflix implemented a poison pill in 2012 after activist investor Carl Icahn revealed a nearly 10% stake in the company. This gave Netflix crucial time to explore strategic options and safeguard its independence.</a:t>
            </a:r>
          </a:p>
          <a:p>
            <a:endParaRPr lang="en-US" sz="1800" dirty="0"/>
          </a:p>
          <a:p>
            <a:endParaRPr lang="en-US" sz="1800" dirty="0"/>
          </a:p>
        </p:txBody>
      </p:sp>
      <p:sp>
        <p:nvSpPr>
          <p:cNvPr id="4" name="Line 5">
            <a:extLst>
              <a:ext uri="{FF2B5EF4-FFF2-40B4-BE49-F238E27FC236}">
                <a16:creationId xmlns:a16="http://schemas.microsoft.com/office/drawing/2014/main" id="{A086CD72-D056-02F1-131B-4498FBB37C69}"/>
              </a:ext>
            </a:extLst>
          </p:cNvPr>
          <p:cNvSpPr>
            <a:spLocks noChangeShapeType="1"/>
          </p:cNvSpPr>
          <p:nvPr/>
        </p:nvSpPr>
        <p:spPr bwMode="gray">
          <a:xfrm flipV="1">
            <a:off x="296863" y="609600"/>
            <a:ext cx="8550275" cy="1588"/>
          </a:xfrm>
          <a:prstGeom prst="line">
            <a:avLst/>
          </a:prstGeom>
          <a:noFill/>
          <a:ln w="12700">
            <a:solidFill>
              <a:schemeClr val="accent2"/>
            </a:solidFill>
            <a:round/>
            <a:headEnd/>
            <a:tailEnd/>
          </a:ln>
        </p:spPr>
        <p:txBody>
          <a:bodyPr/>
          <a:lstStyle/>
          <a:p>
            <a:endParaRPr lang="en-US"/>
          </a:p>
        </p:txBody>
      </p:sp>
    </p:spTree>
    <p:extLst>
      <p:ext uri="{BB962C8B-B14F-4D97-AF65-F5344CB8AC3E}">
        <p14:creationId xmlns:p14="http://schemas.microsoft.com/office/powerpoint/2010/main" val="1308310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How a Poison Pill Works</a:t>
            </a:r>
          </a:p>
        </p:txBody>
      </p:sp>
      <p:sp>
        <p:nvSpPr>
          <p:cNvPr id="36867" name="Text Box 3"/>
          <p:cNvSpPr txBox="1">
            <a:spLocks noChangeArrowheads="1"/>
          </p:cNvSpPr>
          <p:nvPr/>
        </p:nvSpPr>
        <p:spPr bwMode="auto">
          <a:xfrm>
            <a:off x="381000" y="990600"/>
            <a:ext cx="1600200" cy="274638"/>
          </a:xfrm>
          <a:prstGeom prst="rect">
            <a:avLst/>
          </a:prstGeom>
          <a:noFill/>
          <a:ln w="9525">
            <a:noFill/>
            <a:miter lim="800000"/>
            <a:headEnd/>
            <a:tailEnd/>
          </a:ln>
        </p:spPr>
        <p:txBody>
          <a:bodyPr>
            <a:spAutoFit/>
          </a:bodyPr>
          <a:lstStyle/>
          <a:p>
            <a:pPr eaLnBrk="0" hangingPunct="0">
              <a:spcBef>
                <a:spcPct val="50000"/>
              </a:spcBef>
            </a:pPr>
            <a:r>
              <a:rPr lang="en-US" sz="1200" b="0">
                <a:solidFill>
                  <a:schemeClr val="accent2"/>
                </a:solidFill>
              </a:rPr>
              <a:t>Record Date</a:t>
            </a:r>
          </a:p>
        </p:txBody>
      </p:sp>
      <p:sp>
        <p:nvSpPr>
          <p:cNvPr id="36868" name="Text Box 4"/>
          <p:cNvSpPr txBox="1">
            <a:spLocks noChangeArrowheads="1"/>
          </p:cNvSpPr>
          <p:nvPr/>
        </p:nvSpPr>
        <p:spPr bwMode="auto">
          <a:xfrm>
            <a:off x="1752600" y="990600"/>
            <a:ext cx="1905000" cy="274638"/>
          </a:xfrm>
          <a:prstGeom prst="rect">
            <a:avLst/>
          </a:prstGeom>
          <a:noFill/>
          <a:ln w="9525">
            <a:noFill/>
            <a:miter lim="800000"/>
            <a:headEnd/>
            <a:tailEnd/>
          </a:ln>
        </p:spPr>
        <p:txBody>
          <a:bodyPr>
            <a:spAutoFit/>
          </a:bodyPr>
          <a:lstStyle/>
          <a:p>
            <a:pPr algn="ctr" eaLnBrk="0" hangingPunct="0">
              <a:spcBef>
                <a:spcPct val="50000"/>
              </a:spcBef>
            </a:pPr>
            <a:r>
              <a:rPr lang="en-US" sz="1200" b="0">
                <a:solidFill>
                  <a:schemeClr val="accent2"/>
                </a:solidFill>
              </a:rPr>
              <a:t>Detachment Event</a:t>
            </a:r>
          </a:p>
        </p:txBody>
      </p:sp>
      <p:sp>
        <p:nvSpPr>
          <p:cNvPr id="36869" name="Text Box 5"/>
          <p:cNvSpPr txBox="1">
            <a:spLocks noChangeArrowheads="1"/>
          </p:cNvSpPr>
          <p:nvPr/>
        </p:nvSpPr>
        <p:spPr bwMode="auto">
          <a:xfrm>
            <a:off x="3429000" y="990600"/>
            <a:ext cx="1905000" cy="274638"/>
          </a:xfrm>
          <a:prstGeom prst="rect">
            <a:avLst/>
          </a:prstGeom>
          <a:noFill/>
          <a:ln w="9525">
            <a:noFill/>
            <a:miter lim="800000"/>
            <a:headEnd/>
            <a:tailEnd/>
          </a:ln>
        </p:spPr>
        <p:txBody>
          <a:bodyPr>
            <a:spAutoFit/>
          </a:bodyPr>
          <a:lstStyle/>
          <a:p>
            <a:pPr algn="ctr" eaLnBrk="0" hangingPunct="0">
              <a:spcBef>
                <a:spcPct val="50000"/>
              </a:spcBef>
            </a:pPr>
            <a:r>
              <a:rPr lang="en-US" sz="1200" b="0">
                <a:solidFill>
                  <a:schemeClr val="accent2"/>
                </a:solidFill>
              </a:rPr>
              <a:t>Distribution Date</a:t>
            </a:r>
          </a:p>
        </p:txBody>
      </p:sp>
      <p:sp>
        <p:nvSpPr>
          <p:cNvPr id="36870" name="Text Box 6"/>
          <p:cNvSpPr txBox="1">
            <a:spLocks noChangeArrowheads="1"/>
          </p:cNvSpPr>
          <p:nvPr/>
        </p:nvSpPr>
        <p:spPr bwMode="auto">
          <a:xfrm>
            <a:off x="5181600" y="990600"/>
            <a:ext cx="1905000" cy="274638"/>
          </a:xfrm>
          <a:prstGeom prst="rect">
            <a:avLst/>
          </a:prstGeom>
          <a:noFill/>
          <a:ln w="9525">
            <a:noFill/>
            <a:miter lim="800000"/>
            <a:headEnd/>
            <a:tailEnd/>
          </a:ln>
        </p:spPr>
        <p:txBody>
          <a:bodyPr>
            <a:spAutoFit/>
          </a:bodyPr>
          <a:lstStyle/>
          <a:p>
            <a:pPr algn="ctr" eaLnBrk="0" hangingPunct="0">
              <a:spcBef>
                <a:spcPct val="50000"/>
              </a:spcBef>
            </a:pPr>
            <a:r>
              <a:rPr lang="en-US" sz="1200" b="0">
                <a:solidFill>
                  <a:schemeClr val="accent2"/>
                </a:solidFill>
              </a:rPr>
              <a:t>Triggering Event</a:t>
            </a:r>
          </a:p>
        </p:txBody>
      </p:sp>
      <p:sp>
        <p:nvSpPr>
          <p:cNvPr id="36871" name="Text Box 7"/>
          <p:cNvSpPr txBox="1">
            <a:spLocks noChangeArrowheads="1"/>
          </p:cNvSpPr>
          <p:nvPr/>
        </p:nvSpPr>
        <p:spPr bwMode="auto">
          <a:xfrm>
            <a:off x="7010400" y="990600"/>
            <a:ext cx="1905000" cy="274638"/>
          </a:xfrm>
          <a:prstGeom prst="rect">
            <a:avLst/>
          </a:prstGeom>
          <a:noFill/>
          <a:ln w="9525">
            <a:noFill/>
            <a:miter lim="800000"/>
            <a:headEnd/>
            <a:tailEnd/>
          </a:ln>
        </p:spPr>
        <p:txBody>
          <a:bodyPr>
            <a:spAutoFit/>
          </a:bodyPr>
          <a:lstStyle/>
          <a:p>
            <a:pPr algn="ctr" eaLnBrk="0" hangingPunct="0">
              <a:spcBef>
                <a:spcPct val="50000"/>
              </a:spcBef>
            </a:pPr>
            <a:r>
              <a:rPr lang="en-US" sz="1200" b="0">
                <a:solidFill>
                  <a:schemeClr val="accent2"/>
                </a:solidFill>
              </a:rPr>
              <a:t>Flip-In/Flip-Over Event</a:t>
            </a:r>
          </a:p>
        </p:txBody>
      </p:sp>
      <p:sp>
        <p:nvSpPr>
          <p:cNvPr id="36872" name="Text Box 8"/>
          <p:cNvSpPr txBox="1">
            <a:spLocks noChangeArrowheads="1"/>
          </p:cNvSpPr>
          <p:nvPr/>
        </p:nvSpPr>
        <p:spPr bwMode="auto">
          <a:xfrm>
            <a:off x="239713" y="5845175"/>
            <a:ext cx="8153400" cy="214313"/>
          </a:xfrm>
          <a:prstGeom prst="rect">
            <a:avLst/>
          </a:prstGeom>
          <a:noFill/>
          <a:ln w="9525">
            <a:noFill/>
            <a:miter lim="800000"/>
            <a:headEnd/>
            <a:tailEnd/>
          </a:ln>
        </p:spPr>
        <p:txBody>
          <a:bodyPr>
            <a:spAutoFit/>
          </a:bodyPr>
          <a:lstStyle/>
          <a:p>
            <a:pPr eaLnBrk="0" hangingPunct="0">
              <a:spcBef>
                <a:spcPct val="50000"/>
              </a:spcBef>
            </a:pPr>
            <a:r>
              <a:rPr lang="en-US" sz="800" b="0" dirty="0"/>
              <a:t>Note:  Assumes 15% threshold on Common Stock.  </a:t>
            </a:r>
          </a:p>
        </p:txBody>
      </p:sp>
      <p:sp>
        <p:nvSpPr>
          <p:cNvPr id="36873" name="Rectangle 9"/>
          <p:cNvSpPr>
            <a:spLocks noChangeArrowheads="1"/>
          </p:cNvSpPr>
          <p:nvPr/>
        </p:nvSpPr>
        <p:spPr bwMode="gray">
          <a:xfrm>
            <a:off x="457200" y="2057400"/>
            <a:ext cx="1295400" cy="1371600"/>
          </a:xfrm>
          <a:prstGeom prst="rect">
            <a:avLst/>
          </a:prstGeom>
          <a:solidFill>
            <a:schemeClr val="accent1"/>
          </a:solidFill>
          <a:ln w="6350">
            <a:solidFill>
              <a:srgbClr val="808080"/>
            </a:solidFill>
            <a:miter lim="800000"/>
            <a:headEnd/>
            <a:tailEnd/>
          </a:ln>
        </p:spPr>
        <p:txBody>
          <a:bodyPr wrap="none"/>
          <a:lstStyle/>
          <a:p>
            <a:pPr algn="ctr"/>
            <a:r>
              <a:rPr lang="en-US" sz="1200" b="0"/>
              <a:t>Stock</a:t>
            </a:r>
          </a:p>
        </p:txBody>
      </p:sp>
      <p:sp>
        <p:nvSpPr>
          <p:cNvPr id="36874" name="Rectangle 10"/>
          <p:cNvSpPr>
            <a:spLocks noChangeArrowheads="1"/>
          </p:cNvSpPr>
          <p:nvPr/>
        </p:nvSpPr>
        <p:spPr bwMode="gray">
          <a:xfrm>
            <a:off x="642938" y="2601913"/>
            <a:ext cx="914400" cy="533400"/>
          </a:xfrm>
          <a:prstGeom prst="rect">
            <a:avLst/>
          </a:prstGeom>
          <a:solidFill>
            <a:schemeClr val="accent2"/>
          </a:solidFill>
          <a:ln w="6350">
            <a:solidFill>
              <a:srgbClr val="808080"/>
            </a:solidFill>
            <a:miter lim="800000"/>
            <a:headEnd/>
            <a:tailEnd/>
          </a:ln>
        </p:spPr>
        <p:txBody>
          <a:bodyPr wrap="none" anchor="ctr"/>
          <a:lstStyle/>
          <a:p>
            <a:pPr algn="ctr"/>
            <a:r>
              <a:rPr lang="en-US" sz="1200" b="0">
                <a:solidFill>
                  <a:schemeClr val="bg1"/>
                </a:solidFill>
              </a:rPr>
              <a:t>Right</a:t>
            </a:r>
          </a:p>
        </p:txBody>
      </p:sp>
      <p:sp>
        <p:nvSpPr>
          <p:cNvPr id="36875" name="Rectangle 11"/>
          <p:cNvSpPr>
            <a:spLocks noChangeArrowheads="1"/>
          </p:cNvSpPr>
          <p:nvPr/>
        </p:nvSpPr>
        <p:spPr bwMode="gray">
          <a:xfrm>
            <a:off x="3657600" y="1524000"/>
            <a:ext cx="1295400" cy="533400"/>
          </a:xfrm>
          <a:prstGeom prst="rect">
            <a:avLst/>
          </a:prstGeom>
          <a:solidFill>
            <a:schemeClr val="accent1"/>
          </a:solidFill>
          <a:ln w="6350">
            <a:solidFill>
              <a:srgbClr val="808080"/>
            </a:solidFill>
            <a:miter lim="800000"/>
            <a:headEnd/>
            <a:tailEnd/>
          </a:ln>
        </p:spPr>
        <p:txBody>
          <a:bodyPr wrap="none" anchor="ctr"/>
          <a:lstStyle/>
          <a:p>
            <a:pPr algn="ctr"/>
            <a:r>
              <a:rPr lang="en-US" sz="1200" b="0"/>
              <a:t>Stock</a:t>
            </a:r>
          </a:p>
        </p:txBody>
      </p:sp>
      <p:sp>
        <p:nvSpPr>
          <p:cNvPr id="36876" name="Rectangle 12"/>
          <p:cNvSpPr>
            <a:spLocks noChangeArrowheads="1"/>
          </p:cNvSpPr>
          <p:nvPr/>
        </p:nvSpPr>
        <p:spPr bwMode="gray">
          <a:xfrm>
            <a:off x="3810000" y="2667000"/>
            <a:ext cx="914400" cy="990600"/>
          </a:xfrm>
          <a:prstGeom prst="rect">
            <a:avLst/>
          </a:prstGeom>
          <a:solidFill>
            <a:schemeClr val="accent2"/>
          </a:solidFill>
          <a:ln w="6350">
            <a:solidFill>
              <a:srgbClr val="808080"/>
            </a:solidFill>
            <a:miter lim="800000"/>
            <a:headEnd/>
            <a:tailEnd/>
          </a:ln>
        </p:spPr>
        <p:txBody>
          <a:bodyPr wrap="none" anchor="ctr"/>
          <a:lstStyle/>
          <a:p>
            <a:pPr algn="ctr"/>
            <a:r>
              <a:rPr lang="en-US" sz="1200" b="0">
                <a:solidFill>
                  <a:schemeClr val="bg1"/>
                </a:solidFill>
              </a:rPr>
              <a:t>Right</a:t>
            </a:r>
          </a:p>
        </p:txBody>
      </p:sp>
      <p:sp>
        <p:nvSpPr>
          <p:cNvPr id="36877" name="Oval 13"/>
          <p:cNvSpPr>
            <a:spLocks noChangeArrowheads="1"/>
          </p:cNvSpPr>
          <p:nvPr/>
        </p:nvSpPr>
        <p:spPr bwMode="gray">
          <a:xfrm>
            <a:off x="7086600" y="1981200"/>
            <a:ext cx="1600200" cy="609600"/>
          </a:xfrm>
          <a:prstGeom prst="ellipse">
            <a:avLst/>
          </a:prstGeom>
          <a:solidFill>
            <a:schemeClr val="hlink"/>
          </a:solidFill>
          <a:ln w="6350">
            <a:solidFill>
              <a:srgbClr val="808080"/>
            </a:solidFill>
            <a:round/>
            <a:headEnd/>
            <a:tailEnd/>
          </a:ln>
        </p:spPr>
        <p:txBody>
          <a:bodyPr wrap="none" anchor="ctr"/>
          <a:lstStyle/>
          <a:p>
            <a:pPr algn="ctr"/>
            <a:r>
              <a:rPr lang="en-US" sz="1200" b="0"/>
              <a:t>Flip-In</a:t>
            </a:r>
          </a:p>
        </p:txBody>
      </p:sp>
      <p:sp>
        <p:nvSpPr>
          <p:cNvPr id="36878" name="Oval 14"/>
          <p:cNvSpPr>
            <a:spLocks noChangeArrowheads="1"/>
          </p:cNvSpPr>
          <p:nvPr/>
        </p:nvSpPr>
        <p:spPr bwMode="gray">
          <a:xfrm>
            <a:off x="7086600" y="3581400"/>
            <a:ext cx="1600200" cy="609600"/>
          </a:xfrm>
          <a:prstGeom prst="ellipse">
            <a:avLst/>
          </a:prstGeom>
          <a:solidFill>
            <a:schemeClr val="hlink"/>
          </a:solidFill>
          <a:ln w="6350">
            <a:solidFill>
              <a:srgbClr val="808080"/>
            </a:solidFill>
            <a:round/>
            <a:headEnd/>
            <a:tailEnd/>
          </a:ln>
        </p:spPr>
        <p:txBody>
          <a:bodyPr wrap="none" anchor="ctr"/>
          <a:lstStyle/>
          <a:p>
            <a:pPr algn="ctr"/>
            <a:r>
              <a:rPr lang="en-US" sz="1200" b="0"/>
              <a:t>Flip-Over</a:t>
            </a:r>
          </a:p>
        </p:txBody>
      </p:sp>
      <p:sp>
        <p:nvSpPr>
          <p:cNvPr id="36879" name="Text Box 15"/>
          <p:cNvSpPr txBox="1">
            <a:spLocks noChangeArrowheads="1"/>
          </p:cNvSpPr>
          <p:nvPr/>
        </p:nvSpPr>
        <p:spPr bwMode="gray">
          <a:xfrm>
            <a:off x="304800" y="3733800"/>
            <a:ext cx="1525588" cy="569913"/>
          </a:xfrm>
          <a:prstGeom prst="rect">
            <a:avLst/>
          </a:prstGeom>
          <a:noFill/>
          <a:ln w="9525">
            <a:noFill/>
            <a:miter lim="800000"/>
            <a:headEnd/>
            <a:tailEnd/>
          </a:ln>
        </p:spPr>
        <p:txBody>
          <a:bodyPr>
            <a:spAutoFit/>
          </a:bodyPr>
          <a:lstStyle/>
          <a:p>
            <a:pPr marL="109538" indent="-109538" eaLnBrk="0" hangingPunct="0">
              <a:spcBef>
                <a:spcPct val="50000"/>
              </a:spcBef>
              <a:buClr>
                <a:srgbClr val="DC241F"/>
              </a:buClr>
              <a:buFont typeface="Wingdings 2" pitchFamily="18" charset="2"/>
              <a:buChar char=""/>
            </a:pPr>
            <a:r>
              <a:rPr lang="en-US" sz="900" b="0"/>
              <a:t>Right trades with common</a:t>
            </a:r>
          </a:p>
          <a:p>
            <a:pPr marL="109538" indent="-109538" eaLnBrk="0" hangingPunct="0">
              <a:spcBef>
                <a:spcPct val="50000"/>
              </a:spcBef>
              <a:buClr>
                <a:srgbClr val="DC241F"/>
              </a:buClr>
              <a:buFont typeface="Wingdings 2" pitchFamily="18" charset="2"/>
              <a:buChar char=""/>
            </a:pPr>
            <a:r>
              <a:rPr lang="en-US" sz="900" b="0"/>
              <a:t>Right not exercisable</a:t>
            </a:r>
          </a:p>
        </p:txBody>
      </p:sp>
      <p:sp>
        <p:nvSpPr>
          <p:cNvPr id="36880" name="Line 16"/>
          <p:cNvSpPr>
            <a:spLocks noChangeShapeType="1"/>
          </p:cNvSpPr>
          <p:nvPr/>
        </p:nvSpPr>
        <p:spPr bwMode="gray">
          <a:xfrm>
            <a:off x="1754188" y="2662238"/>
            <a:ext cx="1444625" cy="0"/>
          </a:xfrm>
          <a:prstGeom prst="line">
            <a:avLst/>
          </a:prstGeom>
          <a:noFill/>
          <a:ln w="9525">
            <a:solidFill>
              <a:srgbClr val="808080"/>
            </a:solidFill>
            <a:round/>
            <a:headEnd/>
            <a:tailEnd type="triangle" w="med" len="med"/>
          </a:ln>
        </p:spPr>
        <p:txBody>
          <a:bodyPr/>
          <a:lstStyle/>
          <a:p>
            <a:endParaRPr lang="en-US"/>
          </a:p>
        </p:txBody>
      </p:sp>
      <p:sp>
        <p:nvSpPr>
          <p:cNvPr id="36881" name="Line 17"/>
          <p:cNvSpPr>
            <a:spLocks noChangeShapeType="1"/>
          </p:cNvSpPr>
          <p:nvPr/>
        </p:nvSpPr>
        <p:spPr bwMode="gray">
          <a:xfrm flipV="1">
            <a:off x="3276600" y="2209800"/>
            <a:ext cx="533400" cy="381000"/>
          </a:xfrm>
          <a:prstGeom prst="line">
            <a:avLst/>
          </a:prstGeom>
          <a:noFill/>
          <a:ln w="9525">
            <a:solidFill>
              <a:srgbClr val="808080"/>
            </a:solidFill>
            <a:round/>
            <a:headEnd/>
            <a:tailEnd type="triangle" w="med" len="med"/>
          </a:ln>
        </p:spPr>
        <p:txBody>
          <a:bodyPr/>
          <a:lstStyle/>
          <a:p>
            <a:endParaRPr lang="en-US"/>
          </a:p>
        </p:txBody>
      </p:sp>
      <p:sp>
        <p:nvSpPr>
          <p:cNvPr id="36882" name="Line 18"/>
          <p:cNvSpPr>
            <a:spLocks noChangeShapeType="1"/>
          </p:cNvSpPr>
          <p:nvPr/>
        </p:nvSpPr>
        <p:spPr bwMode="gray">
          <a:xfrm>
            <a:off x="3276600" y="2743200"/>
            <a:ext cx="457200" cy="304800"/>
          </a:xfrm>
          <a:prstGeom prst="line">
            <a:avLst/>
          </a:prstGeom>
          <a:noFill/>
          <a:ln w="9525">
            <a:solidFill>
              <a:srgbClr val="808080"/>
            </a:solidFill>
            <a:round/>
            <a:headEnd/>
            <a:tailEnd type="triangle" w="med" len="med"/>
          </a:ln>
        </p:spPr>
        <p:txBody>
          <a:bodyPr/>
          <a:lstStyle/>
          <a:p>
            <a:endParaRPr lang="en-US"/>
          </a:p>
        </p:txBody>
      </p:sp>
      <p:sp>
        <p:nvSpPr>
          <p:cNvPr id="36883" name="Line 19"/>
          <p:cNvSpPr>
            <a:spLocks noChangeShapeType="1"/>
          </p:cNvSpPr>
          <p:nvPr/>
        </p:nvSpPr>
        <p:spPr bwMode="gray">
          <a:xfrm>
            <a:off x="4800600" y="3124200"/>
            <a:ext cx="533400" cy="0"/>
          </a:xfrm>
          <a:prstGeom prst="line">
            <a:avLst/>
          </a:prstGeom>
          <a:noFill/>
          <a:ln w="9525">
            <a:solidFill>
              <a:srgbClr val="808080"/>
            </a:solidFill>
            <a:round/>
            <a:headEnd/>
            <a:tailEnd type="triangle" w="med" len="med"/>
          </a:ln>
        </p:spPr>
        <p:txBody>
          <a:bodyPr/>
          <a:lstStyle/>
          <a:p>
            <a:endParaRPr lang="en-US"/>
          </a:p>
        </p:txBody>
      </p:sp>
      <p:sp>
        <p:nvSpPr>
          <p:cNvPr id="36884" name="Text Box 20"/>
          <p:cNvSpPr txBox="1">
            <a:spLocks noChangeArrowheads="1"/>
          </p:cNvSpPr>
          <p:nvPr/>
        </p:nvSpPr>
        <p:spPr bwMode="gray">
          <a:xfrm>
            <a:off x="1981200" y="3733800"/>
            <a:ext cx="1676400" cy="1866900"/>
          </a:xfrm>
          <a:prstGeom prst="rect">
            <a:avLst/>
          </a:prstGeom>
          <a:noFill/>
          <a:ln w="9525">
            <a:noFill/>
            <a:miter lim="800000"/>
            <a:headEnd/>
            <a:tailEnd/>
          </a:ln>
        </p:spPr>
        <p:txBody>
          <a:bodyPr>
            <a:spAutoFit/>
          </a:bodyPr>
          <a:lstStyle/>
          <a:p>
            <a:pPr marL="109538" indent="-109538" eaLnBrk="0" hangingPunct="0">
              <a:spcBef>
                <a:spcPct val="50000"/>
              </a:spcBef>
              <a:buClr>
                <a:srgbClr val="DC241F"/>
              </a:buClr>
              <a:buFont typeface="Wingdings 2" pitchFamily="18" charset="2"/>
              <a:buChar char=""/>
            </a:pPr>
            <a:r>
              <a:rPr lang="en-US" sz="900" b="0"/>
              <a:t>“Acquiring Person” announces intent to commence tender/exchange offer</a:t>
            </a:r>
          </a:p>
          <a:p>
            <a:pPr marL="109538" indent="-109538" eaLnBrk="0" hangingPunct="0">
              <a:spcBef>
                <a:spcPct val="50000"/>
              </a:spcBef>
              <a:buClr>
                <a:srgbClr val="DC241F"/>
              </a:buClr>
              <a:buFont typeface="Wingdings 2" pitchFamily="18" charset="2"/>
              <a:buChar char=""/>
            </a:pPr>
            <a:r>
              <a:rPr lang="en-US" sz="900" b="0"/>
              <a:t>“Acquiring Person” acquires 15% of common stock (simultaneous Detachment and Triggering Events)</a:t>
            </a:r>
          </a:p>
          <a:p>
            <a:pPr marL="109538" indent="-109538" eaLnBrk="0" hangingPunct="0">
              <a:spcBef>
                <a:spcPct val="50000"/>
              </a:spcBef>
              <a:buClr>
                <a:srgbClr val="DC241F"/>
              </a:buClr>
              <a:buFont typeface="Wingdings 2" pitchFamily="18" charset="2"/>
              <a:buChar char=""/>
            </a:pPr>
            <a:r>
              <a:rPr lang="en-US" sz="900" b="0"/>
              <a:t>Rights redeemable until 10 days after Detachment event</a:t>
            </a:r>
          </a:p>
        </p:txBody>
      </p:sp>
      <p:sp>
        <p:nvSpPr>
          <p:cNvPr id="36885" name="Text Box 21"/>
          <p:cNvSpPr txBox="1">
            <a:spLocks noChangeArrowheads="1"/>
          </p:cNvSpPr>
          <p:nvPr/>
        </p:nvSpPr>
        <p:spPr bwMode="gray">
          <a:xfrm>
            <a:off x="3810000" y="3733800"/>
            <a:ext cx="1295400" cy="1047750"/>
          </a:xfrm>
          <a:prstGeom prst="rect">
            <a:avLst/>
          </a:prstGeom>
          <a:noFill/>
          <a:ln w="9525">
            <a:noFill/>
            <a:miter lim="800000"/>
            <a:headEnd/>
            <a:tailEnd/>
          </a:ln>
        </p:spPr>
        <p:txBody>
          <a:bodyPr>
            <a:spAutoFit/>
          </a:bodyPr>
          <a:lstStyle/>
          <a:p>
            <a:pPr marL="109538" indent="-109538" eaLnBrk="0" hangingPunct="0">
              <a:spcBef>
                <a:spcPct val="50000"/>
              </a:spcBef>
              <a:buClr>
                <a:srgbClr val="DC241F"/>
              </a:buClr>
              <a:buFont typeface="Wingdings 2" pitchFamily="18" charset="2"/>
              <a:buChar char=""/>
            </a:pPr>
            <a:r>
              <a:rPr lang="en-US" sz="900" b="0"/>
              <a:t>10 days after a Detachment Event</a:t>
            </a:r>
          </a:p>
          <a:p>
            <a:pPr marL="109538" indent="-109538" eaLnBrk="0" hangingPunct="0">
              <a:spcBef>
                <a:spcPct val="50000"/>
              </a:spcBef>
              <a:buClr>
                <a:srgbClr val="DC241F"/>
              </a:buClr>
              <a:buFont typeface="Wingdings 2" pitchFamily="18" charset="2"/>
              <a:buChar char=""/>
            </a:pPr>
            <a:r>
              <a:rPr lang="en-US" sz="900" b="0"/>
              <a:t>Right trades separately</a:t>
            </a:r>
          </a:p>
          <a:p>
            <a:pPr marL="109538" indent="-109538" eaLnBrk="0" hangingPunct="0">
              <a:spcBef>
                <a:spcPct val="50000"/>
              </a:spcBef>
              <a:buClr>
                <a:srgbClr val="DC241F"/>
              </a:buClr>
              <a:buFont typeface="Wingdings 2" pitchFamily="18" charset="2"/>
              <a:buChar char=""/>
            </a:pPr>
            <a:r>
              <a:rPr lang="en-US" sz="900" b="0"/>
              <a:t>Right becomes exercisable</a:t>
            </a:r>
          </a:p>
        </p:txBody>
      </p:sp>
      <p:sp>
        <p:nvSpPr>
          <p:cNvPr id="36886" name="Text Box 22"/>
          <p:cNvSpPr txBox="1">
            <a:spLocks noChangeArrowheads="1"/>
          </p:cNvSpPr>
          <p:nvPr/>
        </p:nvSpPr>
        <p:spPr bwMode="gray">
          <a:xfrm>
            <a:off x="5410200" y="3733800"/>
            <a:ext cx="1143000" cy="1116013"/>
          </a:xfrm>
          <a:prstGeom prst="rect">
            <a:avLst/>
          </a:prstGeom>
          <a:noFill/>
          <a:ln w="9525">
            <a:noFill/>
            <a:miter lim="800000"/>
            <a:headEnd/>
            <a:tailEnd/>
          </a:ln>
        </p:spPr>
        <p:txBody>
          <a:bodyPr>
            <a:spAutoFit/>
          </a:bodyPr>
          <a:lstStyle/>
          <a:p>
            <a:pPr marL="114300" indent="-114300" eaLnBrk="0" hangingPunct="0">
              <a:spcBef>
                <a:spcPct val="50000"/>
              </a:spcBef>
              <a:buClr>
                <a:srgbClr val="DC241F"/>
              </a:buClr>
              <a:buFont typeface="Wingdings 2" pitchFamily="18" charset="2"/>
              <a:buChar char=""/>
            </a:pPr>
            <a:r>
              <a:rPr lang="en-US" sz="900" b="0"/>
              <a:t>Merger in which Company is not the survivor</a:t>
            </a:r>
          </a:p>
          <a:p>
            <a:pPr marL="114300" indent="-114300" eaLnBrk="0" hangingPunct="0">
              <a:spcBef>
                <a:spcPct val="50000"/>
              </a:spcBef>
              <a:buClr>
                <a:srgbClr val="DC241F"/>
              </a:buClr>
              <a:buFont typeface="Wingdings 2" pitchFamily="18" charset="2"/>
              <a:buChar char=""/>
            </a:pPr>
            <a:r>
              <a:rPr lang="en-US" sz="900" b="0"/>
              <a:t>Transfer or sale of 50% of assets or earnings power</a:t>
            </a:r>
          </a:p>
        </p:txBody>
      </p:sp>
      <p:sp>
        <p:nvSpPr>
          <p:cNvPr id="36887" name="Text Box 23"/>
          <p:cNvSpPr txBox="1">
            <a:spLocks noChangeArrowheads="1"/>
          </p:cNvSpPr>
          <p:nvPr/>
        </p:nvSpPr>
        <p:spPr bwMode="gray">
          <a:xfrm>
            <a:off x="5410200" y="1992313"/>
            <a:ext cx="1371600" cy="638175"/>
          </a:xfrm>
          <a:prstGeom prst="rect">
            <a:avLst/>
          </a:prstGeom>
          <a:noFill/>
          <a:ln w="9525">
            <a:noFill/>
            <a:miter lim="800000"/>
            <a:headEnd/>
            <a:tailEnd/>
          </a:ln>
        </p:spPr>
        <p:txBody>
          <a:bodyPr>
            <a:spAutoFit/>
          </a:bodyPr>
          <a:lstStyle/>
          <a:p>
            <a:pPr marL="114300" indent="-114300" eaLnBrk="0" hangingPunct="0">
              <a:spcBef>
                <a:spcPct val="50000"/>
              </a:spcBef>
              <a:buClr>
                <a:srgbClr val="DC241F"/>
              </a:buClr>
              <a:buFont typeface="Wingdings 2" pitchFamily="18" charset="2"/>
              <a:buChar char=""/>
            </a:pPr>
            <a:r>
              <a:rPr lang="en-US" sz="900" b="0"/>
              <a:t>Acquisition by Acquiring Person of 15% of Company common stock</a:t>
            </a:r>
          </a:p>
        </p:txBody>
      </p:sp>
      <p:sp>
        <p:nvSpPr>
          <p:cNvPr id="36888" name="Line 24"/>
          <p:cNvSpPr>
            <a:spLocks noChangeShapeType="1"/>
          </p:cNvSpPr>
          <p:nvPr/>
        </p:nvSpPr>
        <p:spPr bwMode="gray">
          <a:xfrm flipV="1">
            <a:off x="5334000" y="2667000"/>
            <a:ext cx="304800" cy="381000"/>
          </a:xfrm>
          <a:prstGeom prst="line">
            <a:avLst/>
          </a:prstGeom>
          <a:noFill/>
          <a:ln w="9525">
            <a:solidFill>
              <a:srgbClr val="808080"/>
            </a:solidFill>
            <a:round/>
            <a:headEnd/>
            <a:tailEnd type="triangle" w="med" len="med"/>
          </a:ln>
        </p:spPr>
        <p:txBody>
          <a:bodyPr/>
          <a:lstStyle/>
          <a:p>
            <a:endParaRPr lang="en-US"/>
          </a:p>
        </p:txBody>
      </p:sp>
      <p:sp>
        <p:nvSpPr>
          <p:cNvPr id="36889" name="Line 25"/>
          <p:cNvSpPr>
            <a:spLocks noChangeShapeType="1"/>
          </p:cNvSpPr>
          <p:nvPr/>
        </p:nvSpPr>
        <p:spPr bwMode="gray">
          <a:xfrm>
            <a:off x="5334000" y="3276600"/>
            <a:ext cx="228600" cy="381000"/>
          </a:xfrm>
          <a:prstGeom prst="line">
            <a:avLst/>
          </a:prstGeom>
          <a:noFill/>
          <a:ln w="9525">
            <a:solidFill>
              <a:srgbClr val="808080"/>
            </a:solidFill>
            <a:round/>
            <a:headEnd/>
            <a:tailEnd type="triangle" w="med" len="med"/>
          </a:ln>
        </p:spPr>
        <p:txBody>
          <a:bodyPr/>
          <a:lstStyle/>
          <a:p>
            <a:endParaRPr lang="en-US"/>
          </a:p>
        </p:txBody>
      </p:sp>
      <p:sp>
        <p:nvSpPr>
          <p:cNvPr id="36890" name="Line 26"/>
          <p:cNvSpPr>
            <a:spLocks noChangeShapeType="1"/>
          </p:cNvSpPr>
          <p:nvPr/>
        </p:nvSpPr>
        <p:spPr bwMode="gray">
          <a:xfrm>
            <a:off x="6629400" y="2286000"/>
            <a:ext cx="381000" cy="0"/>
          </a:xfrm>
          <a:prstGeom prst="line">
            <a:avLst/>
          </a:prstGeom>
          <a:noFill/>
          <a:ln w="9525">
            <a:solidFill>
              <a:srgbClr val="808080"/>
            </a:solidFill>
            <a:round/>
            <a:headEnd/>
            <a:tailEnd type="triangle" w="med" len="med"/>
          </a:ln>
        </p:spPr>
        <p:txBody>
          <a:bodyPr/>
          <a:lstStyle/>
          <a:p>
            <a:endParaRPr lang="en-US"/>
          </a:p>
        </p:txBody>
      </p:sp>
      <p:sp>
        <p:nvSpPr>
          <p:cNvPr id="36891" name="Line 27"/>
          <p:cNvSpPr>
            <a:spLocks noChangeShapeType="1"/>
          </p:cNvSpPr>
          <p:nvPr/>
        </p:nvSpPr>
        <p:spPr bwMode="gray">
          <a:xfrm>
            <a:off x="6629400" y="3886200"/>
            <a:ext cx="381000" cy="0"/>
          </a:xfrm>
          <a:prstGeom prst="line">
            <a:avLst/>
          </a:prstGeom>
          <a:noFill/>
          <a:ln w="9525">
            <a:solidFill>
              <a:srgbClr val="808080"/>
            </a:solidFill>
            <a:round/>
            <a:headEnd/>
            <a:tailEnd type="triangle" w="med" len="med"/>
          </a:ln>
        </p:spPr>
        <p:txBody>
          <a:bodyPr/>
          <a:lstStyle/>
          <a:p>
            <a:endParaRPr lang="en-US"/>
          </a:p>
        </p:txBody>
      </p:sp>
      <p:sp>
        <p:nvSpPr>
          <p:cNvPr id="36892" name="Text Box 28"/>
          <p:cNvSpPr txBox="1">
            <a:spLocks noChangeArrowheads="1"/>
          </p:cNvSpPr>
          <p:nvPr/>
        </p:nvSpPr>
        <p:spPr bwMode="gray">
          <a:xfrm>
            <a:off x="7315200" y="4267200"/>
            <a:ext cx="1371600" cy="911225"/>
          </a:xfrm>
          <a:prstGeom prst="rect">
            <a:avLst/>
          </a:prstGeom>
          <a:noFill/>
          <a:ln w="9525">
            <a:noFill/>
            <a:miter lim="800000"/>
            <a:headEnd/>
            <a:tailEnd/>
          </a:ln>
        </p:spPr>
        <p:txBody>
          <a:bodyPr>
            <a:spAutoFit/>
          </a:bodyPr>
          <a:lstStyle/>
          <a:p>
            <a:pPr marL="231775" indent="-231775" eaLnBrk="0" hangingPunct="0">
              <a:spcBef>
                <a:spcPct val="50000"/>
              </a:spcBef>
              <a:buClr>
                <a:srgbClr val="DC241F"/>
              </a:buClr>
              <a:buFont typeface="Wingdings 2" pitchFamily="18" charset="2"/>
              <a:buChar char=""/>
            </a:pPr>
            <a:r>
              <a:rPr lang="en-US" sz="900" b="0"/>
              <a:t>Right is exercisable to acquire stock of Acquiror valued at twice the Exercise Price</a:t>
            </a:r>
          </a:p>
        </p:txBody>
      </p:sp>
      <p:sp>
        <p:nvSpPr>
          <p:cNvPr id="36893" name="Text Box 29"/>
          <p:cNvSpPr txBox="1">
            <a:spLocks noChangeArrowheads="1"/>
          </p:cNvSpPr>
          <p:nvPr/>
        </p:nvSpPr>
        <p:spPr bwMode="gray">
          <a:xfrm>
            <a:off x="7315200" y="2667000"/>
            <a:ext cx="1371600" cy="774700"/>
          </a:xfrm>
          <a:prstGeom prst="rect">
            <a:avLst/>
          </a:prstGeom>
          <a:noFill/>
          <a:ln w="9525">
            <a:noFill/>
            <a:miter lim="800000"/>
            <a:headEnd/>
            <a:tailEnd/>
          </a:ln>
        </p:spPr>
        <p:txBody>
          <a:bodyPr>
            <a:spAutoFit/>
          </a:bodyPr>
          <a:lstStyle/>
          <a:p>
            <a:pPr marL="114300" indent="-114300" eaLnBrk="0" hangingPunct="0">
              <a:spcBef>
                <a:spcPct val="50000"/>
              </a:spcBef>
              <a:buClr>
                <a:srgbClr val="DC241F"/>
              </a:buClr>
              <a:buFont typeface="Wingdings 2" pitchFamily="18" charset="2"/>
              <a:buChar char=""/>
            </a:pPr>
            <a:r>
              <a:rPr lang="en-US" sz="900" b="0"/>
              <a:t>Right is exercisable to acquire stock of Company valued at twice the Exercise Price</a:t>
            </a:r>
          </a:p>
        </p:txBody>
      </p:sp>
      <p:sp>
        <p:nvSpPr>
          <p:cNvPr id="36896" name="MessageLine"/>
          <p:cNvSpPr>
            <a:spLocks noChangeShapeType="1"/>
          </p:cNvSpPr>
          <p:nvPr/>
        </p:nvSpPr>
        <p:spPr bwMode="auto">
          <a:xfrm>
            <a:off x="304800" y="609600"/>
            <a:ext cx="8496300" cy="0"/>
          </a:xfrm>
          <a:prstGeom prst="line">
            <a:avLst/>
          </a:prstGeom>
          <a:noFill/>
          <a:ln w="12700">
            <a:solidFill>
              <a:srgbClr val="003082"/>
            </a:solidFill>
            <a:round/>
            <a:headEnd/>
            <a:tailEnd/>
          </a:ln>
        </p:spPr>
        <p:txBody>
          <a:bodyPr wrap="none" lIns="45720" rIns="45720" anchor="ct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3" descr="Ripped_grey"/>
          <p:cNvPicPr>
            <a:picLocks noChangeAspect="1" noChangeArrowheads="1"/>
          </p:cNvPicPr>
          <p:nvPr/>
        </p:nvPicPr>
        <p:blipFill>
          <a:blip r:embed="rId3" cstate="print">
            <a:clrChange>
              <a:clrFrom>
                <a:srgbClr val="FDFDFD"/>
              </a:clrFrom>
              <a:clrTo>
                <a:srgbClr val="FDFDFD">
                  <a:alpha val="0"/>
                </a:srgbClr>
              </a:clrTo>
            </a:clrChange>
          </a:blip>
          <a:srcRect t="1704" b="2841"/>
          <a:stretch>
            <a:fillRect/>
          </a:stretch>
        </p:blipFill>
        <p:spPr bwMode="gray">
          <a:xfrm>
            <a:off x="0" y="762000"/>
            <a:ext cx="8991600" cy="2438400"/>
          </a:xfrm>
          <a:prstGeom prst="rect">
            <a:avLst/>
          </a:prstGeom>
          <a:noFill/>
          <a:ln w="9525">
            <a:noFill/>
            <a:miter lim="800000"/>
            <a:headEnd/>
            <a:tailEnd/>
          </a:ln>
        </p:spPr>
      </p:pic>
      <p:sp>
        <p:nvSpPr>
          <p:cNvPr id="32771" name="Rectangle 2"/>
          <p:cNvSpPr>
            <a:spLocks noGrp="1" noChangeArrowheads="1"/>
          </p:cNvSpPr>
          <p:nvPr>
            <p:ph type="title"/>
          </p:nvPr>
        </p:nvSpPr>
        <p:spPr/>
        <p:txBody>
          <a:bodyPr/>
          <a:lstStyle/>
          <a:p>
            <a:r>
              <a:rPr lang="en-US" dirty="0"/>
              <a:t>Do Poison Pills Help Shareholders or Management? </a:t>
            </a:r>
            <a:endParaRPr lang="en-GB" dirty="0"/>
          </a:p>
        </p:txBody>
      </p:sp>
      <p:sp>
        <p:nvSpPr>
          <p:cNvPr id="32772" name="Text Box 101"/>
          <p:cNvSpPr txBox="1">
            <a:spLocks noChangeArrowheads="1"/>
          </p:cNvSpPr>
          <p:nvPr/>
        </p:nvSpPr>
        <p:spPr bwMode="auto">
          <a:xfrm>
            <a:off x="5638800" y="228600"/>
            <a:ext cx="1600200" cy="304800"/>
          </a:xfrm>
          <a:prstGeom prst="rect">
            <a:avLst/>
          </a:prstGeom>
          <a:noFill/>
          <a:ln w="6350" algn="ctr">
            <a:noFill/>
            <a:miter lim="800000"/>
            <a:headEnd/>
            <a:tailEnd/>
          </a:ln>
        </p:spPr>
        <p:txBody>
          <a:bodyPr lIns="45720" rIns="45720">
            <a:spAutoFit/>
          </a:bodyPr>
          <a:lstStyle/>
          <a:p>
            <a:pPr algn="ctr">
              <a:spcBef>
                <a:spcPct val="50000"/>
              </a:spcBef>
            </a:pPr>
            <a:endParaRPr lang="en-US"/>
          </a:p>
        </p:txBody>
      </p:sp>
      <p:sp>
        <p:nvSpPr>
          <p:cNvPr id="32773" name="TextBox 25"/>
          <p:cNvSpPr txBox="1">
            <a:spLocks noChangeArrowheads="1"/>
          </p:cNvSpPr>
          <p:nvPr/>
        </p:nvSpPr>
        <p:spPr bwMode="auto">
          <a:xfrm>
            <a:off x="7086600" y="1681163"/>
            <a:ext cx="184150" cy="307975"/>
          </a:xfrm>
          <a:prstGeom prst="rect">
            <a:avLst/>
          </a:prstGeom>
          <a:noFill/>
          <a:ln w="9525">
            <a:noFill/>
            <a:miter lim="800000"/>
            <a:headEnd/>
            <a:tailEnd/>
          </a:ln>
        </p:spPr>
        <p:txBody>
          <a:bodyPr wrap="none">
            <a:spAutoFit/>
          </a:bodyPr>
          <a:lstStyle/>
          <a:p>
            <a:pPr algn="ctr"/>
            <a:endParaRPr lang="en-US"/>
          </a:p>
        </p:txBody>
      </p:sp>
      <p:sp>
        <p:nvSpPr>
          <p:cNvPr id="32774" name="Line 5"/>
          <p:cNvSpPr>
            <a:spLocks noChangeShapeType="1"/>
          </p:cNvSpPr>
          <p:nvPr/>
        </p:nvSpPr>
        <p:spPr bwMode="gray">
          <a:xfrm flipV="1">
            <a:off x="296863" y="609600"/>
            <a:ext cx="8550275" cy="1588"/>
          </a:xfrm>
          <a:prstGeom prst="line">
            <a:avLst/>
          </a:prstGeom>
          <a:noFill/>
          <a:ln w="12700">
            <a:solidFill>
              <a:schemeClr val="accent2"/>
            </a:solidFill>
            <a:round/>
            <a:headEnd/>
            <a:tailEnd/>
          </a:ln>
        </p:spPr>
        <p:txBody>
          <a:bodyPr/>
          <a:lstStyle/>
          <a:p>
            <a:endParaRPr lang="en-US"/>
          </a:p>
        </p:txBody>
      </p:sp>
      <p:sp>
        <p:nvSpPr>
          <p:cNvPr id="32776" name="TextBox 11"/>
          <p:cNvSpPr txBox="1">
            <a:spLocks noChangeArrowheads="1"/>
          </p:cNvSpPr>
          <p:nvPr/>
        </p:nvSpPr>
        <p:spPr bwMode="auto">
          <a:xfrm>
            <a:off x="457200" y="942975"/>
            <a:ext cx="8077200" cy="2031325"/>
          </a:xfrm>
          <a:prstGeom prst="rect">
            <a:avLst/>
          </a:prstGeom>
          <a:noFill/>
          <a:ln w="9525">
            <a:noFill/>
            <a:miter lim="800000"/>
            <a:headEnd/>
            <a:tailEnd/>
          </a:ln>
        </p:spPr>
        <p:txBody>
          <a:bodyPr wrap="square">
            <a:spAutoFit/>
          </a:bodyPr>
          <a:lstStyle/>
          <a:p>
            <a:pPr>
              <a:buNone/>
            </a:pPr>
            <a:r>
              <a:rPr lang="en-US" b="0" dirty="0">
                <a:latin typeface="+mj-lt"/>
                <a:cs typeface="Times New Roman" pitchFamily="18" charset="0"/>
              </a:rPr>
              <a:t>“</a:t>
            </a:r>
            <a:r>
              <a:rPr lang="en-US" b="0" dirty="0" err="1">
                <a:latin typeface="+mj-lt"/>
                <a:cs typeface="Times New Roman" pitchFamily="18" charset="0"/>
              </a:rPr>
              <a:t>Alpharma</a:t>
            </a:r>
            <a:r>
              <a:rPr lang="en-US" b="0" dirty="0">
                <a:latin typeface="+mj-lt"/>
                <a:cs typeface="Times New Roman" pitchFamily="18" charset="0"/>
              </a:rPr>
              <a:t> said it adopted a shareholder-rights plan (poison pill) in an attempt to hold off King Pharmaceuticals month long attempt to acquire the drug maker…..</a:t>
            </a:r>
            <a:r>
              <a:rPr lang="en-US" b="0" dirty="0" err="1">
                <a:latin typeface="+mj-lt"/>
                <a:cs typeface="Times New Roman" pitchFamily="18" charset="0"/>
              </a:rPr>
              <a:t>Alpharma’s</a:t>
            </a:r>
            <a:r>
              <a:rPr lang="en-US" b="0" dirty="0">
                <a:latin typeface="+mj-lt"/>
                <a:cs typeface="Times New Roman" pitchFamily="18" charset="0"/>
              </a:rPr>
              <a:t> poison pill has a 15% trigger and expires Sept 1, 2009…..”</a:t>
            </a:r>
          </a:p>
          <a:p>
            <a:pPr>
              <a:buNone/>
            </a:pPr>
            <a:endParaRPr lang="en-US" b="0" dirty="0">
              <a:latin typeface="+mj-lt"/>
              <a:cs typeface="Times New Roman" pitchFamily="18" charset="0"/>
            </a:endParaRPr>
          </a:p>
          <a:p>
            <a:pPr>
              <a:buNone/>
            </a:pPr>
            <a:r>
              <a:rPr lang="en-US" b="0" dirty="0" err="1">
                <a:latin typeface="+mj-lt"/>
                <a:cs typeface="Times New Roman" pitchFamily="18" charset="0"/>
              </a:rPr>
              <a:t>Alpharma</a:t>
            </a:r>
            <a:r>
              <a:rPr lang="en-US" b="0" dirty="0">
                <a:latin typeface="+mj-lt"/>
                <a:cs typeface="Times New Roman" pitchFamily="18" charset="0"/>
              </a:rPr>
              <a:t> CEO Dean Mitchell said “our board of  directors has adopted this short-term, shareholder-rights plan in order to guard against a potential takeover by King Pharmaceuticals at an inadequate price that is not in the best interest of shareholders. He added that his firm believes that “there are many avenues to achieve a fair deal.”</a:t>
            </a:r>
          </a:p>
          <a:p>
            <a:pPr algn="r">
              <a:buNone/>
            </a:pPr>
            <a:r>
              <a:rPr lang="en-US" b="0" i="1" dirty="0">
                <a:latin typeface="+mj-lt"/>
                <a:cs typeface="Times New Roman" pitchFamily="18" charset="0"/>
              </a:rPr>
              <a:t>WSJ, Sep 3, 2008</a:t>
            </a:r>
            <a:r>
              <a:rPr lang="en-US" b="0" dirty="0">
                <a:latin typeface="+mj-lt"/>
                <a:cs typeface="Times New Roman" pitchFamily="18" charset="0"/>
              </a:rPr>
              <a:t> </a:t>
            </a:r>
          </a:p>
        </p:txBody>
      </p:sp>
      <p:sp>
        <p:nvSpPr>
          <p:cNvPr id="12" name="MessageLine"/>
          <p:cNvSpPr>
            <a:spLocks noChangeShapeType="1"/>
          </p:cNvSpPr>
          <p:nvPr/>
        </p:nvSpPr>
        <p:spPr bwMode="auto">
          <a:xfrm>
            <a:off x="304800" y="3500438"/>
            <a:ext cx="8496300" cy="0"/>
          </a:xfrm>
          <a:prstGeom prst="line">
            <a:avLst/>
          </a:prstGeom>
          <a:noFill/>
          <a:ln w="12700">
            <a:solidFill>
              <a:srgbClr val="003082"/>
            </a:solidFill>
            <a:round/>
            <a:headEnd/>
            <a:tailEnd/>
          </a:ln>
        </p:spPr>
        <p:txBody>
          <a:bodyPr wrap="none" lIns="45720" rIns="45720" anchor="ctr"/>
          <a:lstStyle/>
          <a:p>
            <a:endParaRPr lang="en-US"/>
          </a:p>
        </p:txBody>
      </p:sp>
      <p:sp>
        <p:nvSpPr>
          <p:cNvPr id="13" name="AutoShape 3"/>
          <p:cNvSpPr>
            <a:spLocks noChangeArrowheads="1"/>
          </p:cNvSpPr>
          <p:nvPr/>
        </p:nvSpPr>
        <p:spPr bwMode="gray">
          <a:xfrm>
            <a:off x="304800" y="3500438"/>
            <a:ext cx="8399463" cy="385762"/>
          </a:xfrm>
          <a:prstGeom prst="bevel">
            <a:avLst>
              <a:gd name="adj" fmla="val 12500"/>
            </a:avLst>
          </a:prstGeom>
          <a:noFill/>
          <a:ln w="9525">
            <a:noFill/>
            <a:miter lim="800000"/>
            <a:headEnd/>
            <a:tailEnd/>
          </a:ln>
        </p:spPr>
        <p:txBody>
          <a:bodyPr wrap="none" lIns="0" anchor="b"/>
          <a:lstStyle/>
          <a:p>
            <a:pPr eaLnBrk="0" hangingPunct="0"/>
            <a:r>
              <a:rPr lang="en-US" sz="1600" b="0" dirty="0">
                <a:solidFill>
                  <a:schemeClr val="accent2"/>
                </a:solidFill>
              </a:rPr>
              <a:t>Acquiring a Company not to be Acquired (by the hostile bidder) – eat, not be eaten</a:t>
            </a:r>
          </a:p>
        </p:txBody>
      </p:sp>
      <p:pic>
        <p:nvPicPr>
          <p:cNvPr id="14" name="Picture 3" descr="Ripped_grey"/>
          <p:cNvPicPr>
            <a:picLocks noChangeAspect="1" noChangeArrowheads="1"/>
          </p:cNvPicPr>
          <p:nvPr/>
        </p:nvPicPr>
        <p:blipFill>
          <a:blip r:embed="rId3" cstate="print">
            <a:clrChange>
              <a:clrFrom>
                <a:srgbClr val="FDFDFD"/>
              </a:clrFrom>
              <a:clrTo>
                <a:srgbClr val="FDFDFD">
                  <a:alpha val="0"/>
                </a:srgbClr>
              </a:clrTo>
            </a:clrChange>
          </a:blip>
          <a:srcRect t="1704" b="2841"/>
          <a:stretch>
            <a:fillRect/>
          </a:stretch>
        </p:blipFill>
        <p:spPr bwMode="gray">
          <a:xfrm>
            <a:off x="0" y="3962400"/>
            <a:ext cx="8991600" cy="2057400"/>
          </a:xfrm>
          <a:prstGeom prst="rect">
            <a:avLst/>
          </a:prstGeom>
          <a:noFill/>
          <a:ln w="9525">
            <a:noFill/>
            <a:miter lim="800000"/>
            <a:headEnd/>
            <a:tailEnd/>
          </a:ln>
        </p:spPr>
      </p:pic>
      <p:sp>
        <p:nvSpPr>
          <p:cNvPr id="15" name="TextBox 11"/>
          <p:cNvSpPr txBox="1">
            <a:spLocks noChangeArrowheads="1"/>
          </p:cNvSpPr>
          <p:nvPr/>
        </p:nvSpPr>
        <p:spPr bwMode="auto">
          <a:xfrm>
            <a:off x="457200" y="4143375"/>
            <a:ext cx="8077200" cy="1815882"/>
          </a:xfrm>
          <a:prstGeom prst="rect">
            <a:avLst/>
          </a:prstGeom>
          <a:noFill/>
          <a:ln w="9525">
            <a:noFill/>
            <a:miter lim="800000"/>
            <a:headEnd/>
            <a:tailEnd/>
          </a:ln>
        </p:spPr>
        <p:txBody>
          <a:bodyPr wrap="square">
            <a:spAutoFit/>
          </a:bodyPr>
          <a:lstStyle/>
          <a:p>
            <a:pPr>
              <a:buNone/>
            </a:pPr>
            <a:r>
              <a:rPr lang="en-US" b="0" dirty="0">
                <a:latin typeface="+mj-lt"/>
                <a:cs typeface="Times New Roman" pitchFamily="18" charset="0"/>
              </a:rPr>
              <a:t>“Republic services, the third-largest US waste hauler, adopted a poison pill to ward off accumulations of its stock, in an effort to fight an unsolicited bid from rival waste hauler Waste Management and instead pursue its $6.24bn plan to buy Allied Waste….. The poison pill will make it incredibly expensive for any shareholder to acquire more than 10% of the company’s outstanding stock.”</a:t>
            </a:r>
          </a:p>
          <a:p>
            <a:pPr>
              <a:buNone/>
            </a:pPr>
            <a:endParaRPr lang="en-US" b="0" dirty="0">
              <a:latin typeface="+mj-lt"/>
              <a:cs typeface="Times New Roman" pitchFamily="18" charset="0"/>
            </a:endParaRPr>
          </a:p>
          <a:p>
            <a:pPr>
              <a:buNone/>
            </a:pPr>
            <a:endParaRPr lang="en-US" b="0" dirty="0">
              <a:latin typeface="+mj-lt"/>
              <a:cs typeface="Times New Roman" pitchFamily="18" charset="0"/>
            </a:endParaRPr>
          </a:p>
          <a:p>
            <a:pPr algn="r">
              <a:buNone/>
            </a:pPr>
            <a:r>
              <a:rPr lang="en-US" b="0" i="1" dirty="0">
                <a:latin typeface="+mj-lt"/>
                <a:cs typeface="Times New Roman" pitchFamily="18" charset="0"/>
              </a:rPr>
              <a:t>FT, July 28, 2008</a:t>
            </a:r>
          </a:p>
        </p:txBody>
      </p:sp>
      <p:sp>
        <p:nvSpPr>
          <p:cNvPr id="3" name="TextBox 2">
            <a:extLst>
              <a:ext uri="{FF2B5EF4-FFF2-40B4-BE49-F238E27FC236}">
                <a16:creationId xmlns:a16="http://schemas.microsoft.com/office/drawing/2014/main" id="{F90FCDBC-47E1-3C5D-1508-71A89C00ECED}"/>
              </a:ext>
            </a:extLst>
          </p:cNvPr>
          <p:cNvSpPr txBox="1"/>
          <p:nvPr/>
        </p:nvSpPr>
        <p:spPr>
          <a:xfrm>
            <a:off x="2133600" y="6133305"/>
            <a:ext cx="4572000" cy="3108543"/>
          </a:xfrm>
          <a:prstGeom prst="rect">
            <a:avLst/>
          </a:prstGeom>
          <a:noFill/>
        </p:spPr>
        <p:txBody>
          <a:bodyPr wrap="square">
            <a:spAutoFit/>
          </a:bodyPr>
          <a:lstStyle/>
          <a:p>
            <a:r>
              <a:rPr lang="en-US" sz="1400" dirty="0">
                <a:solidFill>
                  <a:srgbClr val="FF0000"/>
                </a:solidFill>
              </a:rPr>
              <a:t>UPDATE WITH RECENT EXAMPLES</a:t>
            </a:r>
          </a:p>
          <a:p>
            <a:endParaRPr lang="en-US" dirty="0"/>
          </a:p>
          <a:p>
            <a:r>
              <a:rPr lang="en-US" sz="1400" dirty="0"/>
              <a:t>In 2022, X adopted a poison pill after Elon Musk disclosed a 9.2% stake in the company and made an unsolicited bid to buy the company outright. While this did delay the takeover and may have led to more favorable conditions, Musk was ultimately successful with the takeover.</a:t>
            </a:r>
          </a:p>
          <a:p>
            <a:endParaRPr lang="en-US" sz="1400" dirty="0"/>
          </a:p>
          <a:p>
            <a:r>
              <a:rPr lang="en-US" sz="1400" dirty="0"/>
              <a:t>Netflix implemented a poison pill in 2012 after activist investor Carl Icahn revealed a nearly 10% stake in the company. This gave Netflix crucial time to explore strategic options and safeguard its independence.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Increasing Influence of Shareholder Activists in M&amp;A</a:t>
            </a:r>
          </a:p>
        </p:txBody>
      </p:sp>
      <p:sp>
        <p:nvSpPr>
          <p:cNvPr id="28678" name="MessageLine"/>
          <p:cNvSpPr>
            <a:spLocks noChangeShapeType="1"/>
          </p:cNvSpPr>
          <p:nvPr/>
        </p:nvSpPr>
        <p:spPr bwMode="auto">
          <a:xfrm>
            <a:off x="304800" y="609600"/>
            <a:ext cx="8496300" cy="0"/>
          </a:xfrm>
          <a:prstGeom prst="line">
            <a:avLst/>
          </a:prstGeom>
          <a:noFill/>
          <a:ln w="12700">
            <a:solidFill>
              <a:srgbClr val="003082"/>
            </a:solidFill>
            <a:round/>
            <a:headEnd/>
            <a:tailEnd/>
          </a:ln>
        </p:spPr>
        <p:txBody>
          <a:bodyPr wrap="none" lIns="45720" rIns="45720" anchor="ct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1066801"/>
            <a:ext cx="4668281"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311964"/>
            <a:ext cx="4191000" cy="235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8"/>
          <p:cNvSpPr>
            <a:spLocks noChangeArrowheads="1"/>
          </p:cNvSpPr>
          <p:nvPr/>
        </p:nvSpPr>
        <p:spPr bwMode="auto">
          <a:xfrm>
            <a:off x="152400" y="762000"/>
            <a:ext cx="8839200" cy="246221"/>
          </a:xfrm>
          <a:prstGeom prst="rect">
            <a:avLst/>
          </a:prstGeom>
          <a:noFill/>
          <a:ln w="9525">
            <a:noFill/>
            <a:miter lim="800000"/>
            <a:headEnd/>
            <a:tailEnd/>
          </a:ln>
        </p:spPr>
        <p:txBody>
          <a:bodyPr wrap="square" lIns="0" tIns="0" rIns="0" bIns="0">
            <a:spAutoFit/>
          </a:bodyPr>
          <a:lstStyle/>
          <a:p>
            <a:pPr>
              <a:spcBef>
                <a:spcPct val="75000"/>
              </a:spcBef>
              <a:buClr>
                <a:schemeClr val="bg2"/>
              </a:buClr>
              <a:buSzPct val="55000"/>
              <a:buFont typeface="Monotype Sorts" pitchFamily="2" charset="2"/>
              <a:buNone/>
            </a:pPr>
            <a:r>
              <a:rPr lang="en-US" sz="1600" b="0" dirty="0">
                <a:solidFill>
                  <a:srgbClr val="00387A"/>
                </a:solidFill>
              </a:rPr>
              <a:t>Activist Investors Increasing Involved in M&amp;A, Pushing for Board Changes, and Higher Premiums </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4038600"/>
            <a:ext cx="4616450" cy="2421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3867634"/>
            <a:ext cx="4327525" cy="283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Defenses: Classified Boards</a:t>
            </a:r>
          </a:p>
        </p:txBody>
      </p:sp>
      <p:pic>
        <p:nvPicPr>
          <p:cNvPr id="5" name="Picture 4"/>
          <p:cNvPicPr>
            <a:picLocks noChangeAspect="1"/>
          </p:cNvPicPr>
          <p:nvPr/>
        </p:nvPicPr>
        <p:blipFill>
          <a:blip r:embed="rId2"/>
          <a:stretch>
            <a:fillRect/>
          </a:stretch>
        </p:blipFill>
        <p:spPr>
          <a:xfrm>
            <a:off x="297346" y="1676400"/>
            <a:ext cx="8549308" cy="3505200"/>
          </a:xfrm>
          <a:prstGeom prst="rect">
            <a:avLst/>
          </a:prstGeom>
        </p:spPr>
      </p:pic>
      <p:sp>
        <p:nvSpPr>
          <p:cNvPr id="6" name="Line 5"/>
          <p:cNvSpPr>
            <a:spLocks noChangeShapeType="1"/>
          </p:cNvSpPr>
          <p:nvPr/>
        </p:nvSpPr>
        <p:spPr bwMode="gray">
          <a:xfrm flipV="1">
            <a:off x="296863" y="609600"/>
            <a:ext cx="8550275" cy="1588"/>
          </a:xfrm>
          <a:prstGeom prst="line">
            <a:avLst/>
          </a:prstGeom>
          <a:noFill/>
          <a:ln w="12700">
            <a:solidFill>
              <a:schemeClr val="accent2"/>
            </a:solidFill>
            <a:round/>
            <a:headEnd/>
            <a:tailEnd/>
          </a:ln>
        </p:spPr>
        <p:txBody>
          <a:bodyPr/>
          <a:lstStyle/>
          <a:p>
            <a:endParaRPr lang="en-US"/>
          </a:p>
        </p:txBody>
      </p:sp>
    </p:spTree>
    <p:extLst>
      <p:ext uri="{BB962C8B-B14F-4D97-AF65-F5344CB8AC3E}">
        <p14:creationId xmlns:p14="http://schemas.microsoft.com/office/powerpoint/2010/main" val="3534672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Ripped_grey"/>
          <p:cNvPicPr>
            <a:picLocks noChangeAspect="1" noChangeArrowheads="1"/>
          </p:cNvPicPr>
          <p:nvPr/>
        </p:nvPicPr>
        <p:blipFill>
          <a:blip r:embed="rId2" cstate="print">
            <a:clrChange>
              <a:clrFrom>
                <a:srgbClr val="FDFDFD"/>
              </a:clrFrom>
              <a:clrTo>
                <a:srgbClr val="FDFDFD">
                  <a:alpha val="0"/>
                </a:srgbClr>
              </a:clrTo>
            </a:clrChange>
          </a:blip>
          <a:srcRect t="1704" b="2841"/>
          <a:stretch>
            <a:fillRect/>
          </a:stretch>
        </p:blipFill>
        <p:spPr bwMode="gray">
          <a:xfrm>
            <a:off x="0" y="2209829"/>
            <a:ext cx="8991600" cy="4607451"/>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Other Defenses: Golden Parachutes</a:t>
            </a:r>
          </a:p>
        </p:txBody>
      </p:sp>
      <p:sp>
        <p:nvSpPr>
          <p:cNvPr id="4" name="Rectangle 3"/>
          <p:cNvSpPr/>
          <p:nvPr/>
        </p:nvSpPr>
        <p:spPr>
          <a:xfrm>
            <a:off x="2895600" y="1104781"/>
            <a:ext cx="3581400" cy="1046440"/>
          </a:xfrm>
          <a:prstGeom prst="rect">
            <a:avLst/>
          </a:prstGeom>
        </p:spPr>
        <p:txBody>
          <a:bodyPr wrap="square">
            <a:spAutoFit/>
          </a:bodyPr>
          <a:lstStyle/>
          <a:p>
            <a:r>
              <a:rPr lang="en-US" sz="1600" dirty="0"/>
              <a:t>Goldcorp CEO May Exit With </a:t>
            </a:r>
          </a:p>
          <a:p>
            <a:r>
              <a:rPr lang="en-US" sz="1600" dirty="0"/>
              <a:t>$6.9 Million in Biggest Gold M&amp;A</a:t>
            </a:r>
          </a:p>
          <a:p>
            <a:endParaRPr lang="en-US" sz="1600" dirty="0"/>
          </a:p>
          <a:p>
            <a:pPr algn="ctr"/>
            <a:r>
              <a:rPr lang="en-US" dirty="0"/>
              <a:t>January 14, 2019</a:t>
            </a:r>
          </a:p>
        </p:txBody>
      </p:sp>
      <p:sp>
        <p:nvSpPr>
          <p:cNvPr id="6" name="Rectangle 5"/>
          <p:cNvSpPr/>
          <p:nvPr/>
        </p:nvSpPr>
        <p:spPr>
          <a:xfrm>
            <a:off x="228600" y="2438400"/>
            <a:ext cx="8723313" cy="2292935"/>
          </a:xfrm>
          <a:prstGeom prst="rect">
            <a:avLst/>
          </a:prstGeom>
        </p:spPr>
        <p:txBody>
          <a:bodyPr wrap="square">
            <a:spAutoFit/>
          </a:bodyPr>
          <a:lstStyle/>
          <a:p>
            <a:r>
              <a:rPr lang="en-US" sz="1300" b="0" dirty="0"/>
              <a:t>Investors and analysts are still debating whether the biggest gold mining deal ever is good for acquirer Newmont Mining Corp., but the CEO of the target company could end up millions of dollars richer.</a:t>
            </a:r>
          </a:p>
          <a:p>
            <a:endParaRPr lang="en-US" sz="1300" b="0" dirty="0"/>
          </a:p>
          <a:p>
            <a:r>
              <a:rPr lang="en-US" sz="1300" b="0" dirty="0"/>
              <a:t>David </a:t>
            </a:r>
            <a:r>
              <a:rPr lang="en-US" sz="1300" b="0" dirty="0" err="1"/>
              <a:t>Garofalo</a:t>
            </a:r>
            <a:r>
              <a:rPr lang="en-US" sz="1300" b="0" dirty="0"/>
              <a:t> is eligible to collect at least $6.9 million, including as much as $4.6 million in severance and $464,000 in pension and benefits if he’s dismissed as chief executive officer of Goldcorp Inc. as a result of the planned merger...he also holds shares worth about $1.8 million at the offer price.</a:t>
            </a:r>
          </a:p>
          <a:p>
            <a:endParaRPr lang="en-US" sz="1300" b="0" dirty="0"/>
          </a:p>
          <a:p>
            <a:r>
              <a:rPr lang="en-US" sz="1300" b="0" dirty="0"/>
              <a:t>Newmont will pay a 17 percent premium to the 20-day weighted average share price of Goldcorp in a deal valued at $10 billion, creating the world’s largest gold miner. That would leave </a:t>
            </a:r>
            <a:r>
              <a:rPr lang="en-US" sz="1300" b="0" dirty="0" err="1"/>
              <a:t>Garofalo</a:t>
            </a:r>
            <a:r>
              <a:rPr lang="en-US" sz="1300" b="0" dirty="0"/>
              <a:t> richer even after the company he ran saw shares tumble by more than a quarter in the 12 months through Friday, the second-worst performer on the BI Global Senior Gold Valuation Peers index.</a:t>
            </a:r>
          </a:p>
        </p:txBody>
      </p:sp>
      <p:sp>
        <p:nvSpPr>
          <p:cNvPr id="7" name="Rectangle 6"/>
          <p:cNvSpPr/>
          <p:nvPr/>
        </p:nvSpPr>
        <p:spPr>
          <a:xfrm>
            <a:off x="220663" y="4724400"/>
            <a:ext cx="8626475" cy="2092881"/>
          </a:xfrm>
          <a:prstGeom prst="rect">
            <a:avLst/>
          </a:prstGeom>
        </p:spPr>
        <p:txBody>
          <a:bodyPr wrap="square">
            <a:spAutoFit/>
          </a:bodyPr>
          <a:lstStyle/>
          <a:p>
            <a:r>
              <a:rPr lang="en-US" sz="1300" b="0" dirty="0"/>
              <a:t>“Mr. </a:t>
            </a:r>
            <a:r>
              <a:rPr lang="en-US" sz="1300" b="0" dirty="0" err="1"/>
              <a:t>Garofalo</a:t>
            </a:r>
            <a:r>
              <a:rPr lang="en-US" sz="1300" b="0" dirty="0"/>
              <a:t> has been massively overpaid,” the Shareholders’ Gold Council said in an emailed statement. “The merger with Newmont is only a victory for shareholders in as much as it eliminates another gold company with executive incentives that are grossly misaligned with those of shareholders.”</a:t>
            </a:r>
          </a:p>
          <a:p>
            <a:endParaRPr lang="en-US" sz="1300" b="0" dirty="0"/>
          </a:p>
          <a:p>
            <a:r>
              <a:rPr lang="en-US" sz="1300" b="0" dirty="0" err="1"/>
              <a:t>Garofalo</a:t>
            </a:r>
            <a:r>
              <a:rPr lang="en-US" sz="1300" b="0" dirty="0"/>
              <a:t> has been the CEO of Goldcorp since 2016. The company reported a worse-than-expected third-quarter loss in October, sending shares to the lowest since 2002 a day later. The Vancouver-based miner, which was once the world’s largest gold producer by market value, fell short of almost every target when it last reported earnings…</a:t>
            </a:r>
          </a:p>
          <a:p>
            <a:endParaRPr lang="en-US" sz="1300" b="0" dirty="0"/>
          </a:p>
          <a:p>
            <a:r>
              <a:rPr lang="en-US" sz="1300" b="0" dirty="0"/>
              <a:t>“Goldcorp management has not done a good job of managing their mines and I’m happy to see Newmont step in,” Joe Foster, a New York-based portfolio manager for the </a:t>
            </a:r>
            <a:r>
              <a:rPr lang="en-US" sz="1300" b="0" dirty="0" err="1"/>
              <a:t>VanEck</a:t>
            </a:r>
            <a:r>
              <a:rPr lang="en-US" sz="1300" b="0" dirty="0"/>
              <a:t> International Investors Gold Fund, said…</a:t>
            </a:r>
          </a:p>
        </p:txBody>
      </p:sp>
      <p:sp>
        <p:nvSpPr>
          <p:cNvPr id="8" name="Rectangle 7"/>
          <p:cNvSpPr/>
          <p:nvPr/>
        </p:nvSpPr>
        <p:spPr>
          <a:xfrm>
            <a:off x="3724264" y="742890"/>
            <a:ext cx="1609736" cy="400110"/>
          </a:xfrm>
          <a:prstGeom prst="rect">
            <a:avLst/>
          </a:prstGeom>
        </p:spPr>
        <p:txBody>
          <a:bodyPr wrap="none">
            <a:spAutoFit/>
          </a:bodyPr>
          <a:lstStyle/>
          <a:p>
            <a:r>
              <a:rPr lang="en-US" sz="2000" dirty="0"/>
              <a:t> Bloomberg</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0431" y="685800"/>
            <a:ext cx="2721482" cy="1524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3" y="685800"/>
            <a:ext cx="28479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Line 5"/>
          <p:cNvSpPr>
            <a:spLocks noChangeShapeType="1"/>
          </p:cNvSpPr>
          <p:nvPr/>
        </p:nvSpPr>
        <p:spPr bwMode="gray">
          <a:xfrm flipV="1">
            <a:off x="296863" y="609600"/>
            <a:ext cx="8550275" cy="1588"/>
          </a:xfrm>
          <a:prstGeom prst="line">
            <a:avLst/>
          </a:prstGeom>
          <a:noFill/>
          <a:ln w="12700">
            <a:solidFill>
              <a:schemeClr val="accent2"/>
            </a:solidFill>
            <a:round/>
            <a:headEnd/>
            <a:tailEnd/>
          </a:ln>
        </p:spPr>
        <p:txBody>
          <a:bodyPr/>
          <a:lstStyle/>
          <a:p>
            <a:endParaRPr lang="en-US"/>
          </a:p>
        </p:txBody>
      </p:sp>
    </p:spTree>
    <p:extLst>
      <p:ext uri="{BB962C8B-B14F-4D97-AF65-F5344CB8AC3E}">
        <p14:creationId xmlns:p14="http://schemas.microsoft.com/office/powerpoint/2010/main" val="13735188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SB" val="CitiLogo"/>
</p:tagLst>
</file>

<file path=ppt/tags/tag2.xml><?xml version="1.0" encoding="utf-8"?>
<p:tagLst xmlns:a="http://schemas.openxmlformats.org/drawingml/2006/main" xmlns:r="http://schemas.openxmlformats.org/officeDocument/2006/relationships" xmlns:p="http://schemas.openxmlformats.org/presentationml/2006/main">
  <p:tag name="SSB" val="CitiLogo"/>
</p:tagLst>
</file>

<file path=ppt/theme/theme1.xml><?xml version="1.0" encoding="utf-8"?>
<a:theme xmlns:a="http://schemas.openxmlformats.org/drawingml/2006/main" name="M&amp;B_Pres">
  <a:themeElements>
    <a:clrScheme name="M&amp;B_Pres 1">
      <a:dk1>
        <a:srgbClr val="000000"/>
      </a:dk1>
      <a:lt1>
        <a:srgbClr val="FFFFFF"/>
      </a:lt1>
      <a:dk2>
        <a:srgbClr val="4E728F"/>
      </a:dk2>
      <a:lt2>
        <a:srgbClr val="969696"/>
      </a:lt2>
      <a:accent1>
        <a:srgbClr val="BED8EC"/>
      </a:accent1>
      <a:accent2>
        <a:srgbClr val="003082"/>
      </a:accent2>
      <a:accent3>
        <a:srgbClr val="FFFFFF"/>
      </a:accent3>
      <a:accent4>
        <a:srgbClr val="000000"/>
      </a:accent4>
      <a:accent5>
        <a:srgbClr val="DBE9F4"/>
      </a:accent5>
      <a:accent6>
        <a:srgbClr val="002A75"/>
      </a:accent6>
      <a:hlink>
        <a:srgbClr val="C0C0C0"/>
      </a:hlink>
      <a:folHlink>
        <a:srgbClr val="00A8EB"/>
      </a:folHlink>
    </a:clrScheme>
    <a:fontScheme name="M&amp;B_Pr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bg2"/>
          </a:solidFill>
          <a:prstDash val="solid"/>
          <a:round/>
          <a:headEnd type="none" w="med" len="med"/>
          <a:tailEnd type="none" w="med" len="med"/>
        </a:ln>
        <a:effectLst/>
      </a:spPr>
      <a:bodyPr vert="horz" wrap="square" lIns="45720" tIns="45720" rIns="4572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6350" cap="flat" cmpd="sng" algn="ctr">
          <a:solidFill>
            <a:schemeClr val="bg2"/>
          </a:solidFill>
          <a:prstDash val="solid"/>
          <a:round/>
          <a:headEnd type="none" w="med" len="med"/>
          <a:tailEnd type="none" w="med" len="med"/>
        </a:ln>
        <a:effectLst/>
      </a:spPr>
      <a:bodyPr vert="horz" wrap="square" lIns="45720" tIns="45720" rIns="4572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M&amp;B_Pres 1">
        <a:dk1>
          <a:srgbClr val="000000"/>
        </a:dk1>
        <a:lt1>
          <a:srgbClr val="FFFFFF"/>
        </a:lt1>
        <a:dk2>
          <a:srgbClr val="4E728F"/>
        </a:dk2>
        <a:lt2>
          <a:srgbClr val="969696"/>
        </a:lt2>
        <a:accent1>
          <a:srgbClr val="BED8EC"/>
        </a:accent1>
        <a:accent2>
          <a:srgbClr val="003082"/>
        </a:accent2>
        <a:accent3>
          <a:srgbClr val="FFFFFF"/>
        </a:accent3>
        <a:accent4>
          <a:srgbClr val="000000"/>
        </a:accent4>
        <a:accent5>
          <a:srgbClr val="DBE9F4"/>
        </a:accent5>
        <a:accent6>
          <a:srgbClr val="002A75"/>
        </a:accent6>
        <a:hlink>
          <a:srgbClr val="C0C0C0"/>
        </a:hlink>
        <a:folHlink>
          <a:srgbClr val="00A8E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GBIP Global Document Content Type" ma:contentTypeID="0x010104007D5FB1EF9930154EBF8DBC98B1ED32750096645B2FA45C5A48B411088B44A6B485" ma:contentTypeVersion="3" ma:contentTypeDescription="GBIP Global Document Content Type&#10;This will be applicable to following document libraries:&#10;- Announcements&#10;- Weekly Updates&#10;- Must Read&#10;- Recent Wins&#10;" ma:contentTypeScope="" ma:versionID="67fc285822981a77a5fa1d8c247e03f8">
  <xsd:schema xmlns:xsd="http://www.w3.org/2001/XMLSchema" xmlns:p="http://schemas.microsoft.com/office/2006/metadata/properties" xmlns:ns1="http://schemas.microsoft.com/sharepoint/v3" xmlns:ns2="8c066b26-5a3e-4e1b-85ec-7e584cf178d7" xmlns:ns3="3ef53724-af28-4bd9-bb10-f2878f185fa3" targetNamespace="http://schemas.microsoft.com/office/2006/metadata/properties" ma:root="true" ma:fieldsID="0fd53aa8c77c91e87f5731efa3a508f4" ns1:_="" ns2:_="" ns3:_="">
    <xsd:import namespace="http://schemas.microsoft.com/sharepoint/v3"/>
    <xsd:import namespace="8c066b26-5a3e-4e1b-85ec-7e584cf178d7"/>
    <xsd:import namespace="3ef53724-af28-4bd9-bb10-f2878f185fa3"/>
    <xsd:element name="properties">
      <xsd:complexType>
        <xsd:sequence>
          <xsd:element name="documentManagement">
            <xsd:complexType>
              <xsd:all>
                <xsd:element ref="ns2:Regions"/>
                <xsd:element ref="ns1:PublishingStartDate" minOccurs="0"/>
                <xsd:element ref="ns1:PublishingExpirationDate" minOccurs="0"/>
                <xsd:element ref="ns2:Taxonomy" minOccurs="0"/>
                <xsd:element ref="ns3:Show in Most Recent Document List" minOccurs="0"/>
              </xsd:all>
            </xsd:complexType>
          </xsd:element>
        </xsd:sequence>
      </xsd:complexType>
    </xsd:element>
  </xsd:schema>
  <xsd:schema xmlns:xsd="http://www.w3.org/2001/XMLSchema" xmlns:dms="http://schemas.microsoft.com/office/2006/documentManagement/types" targetNamespace="http://schemas.microsoft.com/sharepoint/v3" elementFormDefault="qualified">
    <xsd:import namespace="http://schemas.microsoft.com/office/2006/documentManagement/types"/>
    <xsd:element name="PublishingStartDate" ma:index="9" nillable="true" ma:displayName="Scheduling Start Date" ma:internalName="PublishingStartDate">
      <xsd:simpleType>
        <xsd:restriction base="dms:Unknown"/>
      </xsd:simpleType>
    </xsd:element>
    <xsd:element name="PublishingExpirationDate" ma:index="10" nillable="true" ma:displayName="Scheduling End Date" ma:internalName="PublishingExpirationDate">
      <xsd:simpleType>
        <xsd:restriction base="dms:Unknown"/>
      </xsd:simpleType>
    </xsd:element>
  </xsd:schema>
  <xsd:schema xmlns:xsd="http://www.w3.org/2001/XMLSchema" xmlns:dms="http://schemas.microsoft.com/office/2006/documentManagement/types" targetNamespace="8c066b26-5a3e-4e1b-85ec-7e584cf178d7" elementFormDefault="qualified">
    <xsd:import namespace="http://schemas.microsoft.com/office/2006/documentManagement/types"/>
    <xsd:element name="Regions" ma:index="8" ma:displayName="Regions" ma:list="ba9e473a-9978-49a6-8940-06e4acff55b4" ma:internalName="Regions" ma:showField="Title" ma:web="dbd1d5a3-cbbb-4c6f-8487-1017d541f449">
      <xsd:simpleType>
        <xsd:restriction base="dms:Lookup"/>
      </xsd:simpleType>
    </xsd:element>
    <xsd:element name="Taxonomy" ma:index="11" nillable="true" ma:displayName="Taxonomy" ma:list="f6544acd-e97e-4b1c-abb6-cfc11b303eb6" ma:internalName="Taxonomy" ma:showField="Title" ma:web="dbd1d5a3-cbbb-4c6f-8487-1017d541f449">
      <xsd:simpleType>
        <xsd:restriction base="dms:Lookup"/>
      </xsd:simpleType>
    </xsd:element>
  </xsd:schema>
  <xsd:schema xmlns:xsd="http://www.w3.org/2001/XMLSchema" xmlns:dms="http://schemas.microsoft.com/office/2006/documentManagement/types" targetNamespace="3ef53724-af28-4bd9-bb10-f2878f185fa3" elementFormDefault="qualified">
    <xsd:import namespace="http://schemas.microsoft.com/office/2006/documentManagement/types"/>
    <xsd:element name="Show in Most Recent Document List" ma:index="12" nillable="true" ma:displayName="Show in Most Recent Document List" ma:default="1" ma:description="Show in Most Recent Document List" ma:hidden="true" ma:internalName="Show_x0020_in_x0020_Most_x0020_Recent_x0020_Document_x0020_Lis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D063A202-6156-4E73-AB04-41BDEC634E31}">
  <ds:schemaRefs>
    <ds:schemaRef ds:uri="http://schemas.microsoft.com/sharepoint/v3/contenttype/forms"/>
  </ds:schemaRefs>
</ds:datastoreItem>
</file>

<file path=customXml/itemProps2.xml><?xml version="1.0" encoding="utf-8"?>
<ds:datastoreItem xmlns:ds="http://schemas.openxmlformats.org/officeDocument/2006/customXml" ds:itemID="{CF07524D-95C8-4C3D-81DA-ED59704CB5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c066b26-5a3e-4e1b-85ec-7e584cf178d7"/>
    <ds:schemaRef ds:uri="3ef53724-af28-4bd9-bb10-f2878f185fa3"/>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M&amp;B_Pres</Template>
  <TotalTime>3946</TotalTime>
  <Words>1093</Words>
  <Application>Microsoft Office PowerPoint</Application>
  <PresentationFormat>On-screen Show (4:3)</PresentationFormat>
  <Paragraphs>77</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Monotype Sorts</vt:lpstr>
      <vt:lpstr>Wingdings</vt:lpstr>
      <vt:lpstr>Wingdings 2</vt:lpstr>
      <vt:lpstr>M&amp;B_Pres</vt:lpstr>
      <vt:lpstr>Hostile M&amp;A and Takeover Defenses</vt:lpstr>
      <vt:lpstr>Hostile Takeovers</vt:lpstr>
      <vt:lpstr>Poison Pills</vt:lpstr>
      <vt:lpstr>How a Poison Pill Works</vt:lpstr>
      <vt:lpstr>Do Poison Pills Help Shareholders or Management? </vt:lpstr>
      <vt:lpstr>Increasing Influence of Shareholder Activists in M&amp;A</vt:lpstr>
      <vt:lpstr>Other Defenses: Classified Boards</vt:lpstr>
      <vt:lpstr>Other Defenses: Golden Parachutes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M&amp;A Summary - February 2009</dc:title>
  <dc:creator>John</dc:creator>
  <cp:lastModifiedBy>Shivdasani, Anil</cp:lastModifiedBy>
  <cp:revision>368</cp:revision>
  <dcterms:created xsi:type="dcterms:W3CDTF">2009-02-03T16:23:26Z</dcterms:created>
  <dcterms:modified xsi:type="dcterms:W3CDTF">2025-09-28T22:04:48Z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egions">
    <vt:lpwstr>2;#Asia Pacific;#1;#EMEA;#3;#Japan;#4;#North America;#5;#Latin America</vt:lpwstr>
  </property>
  <property fmtid="{D5CDD505-2E9C-101B-9397-08002B2CF9AE}" pid="3" name="Taxonomy">
    <vt:lpwstr/>
  </property>
</Properties>
</file>